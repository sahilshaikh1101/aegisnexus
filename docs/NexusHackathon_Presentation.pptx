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16256000" cy="9144000"/>
  <p:notesSz cx="9144000" cy="16256000"/>
  <p:embeddedFontLst>
    <p:embeddedFont>
      <p:font typeface="Inter" panose="020B0604020202020204" charset="0"/>
      <p:regular r:id="rId15"/>
    </p:embeddedFont>
    <p:embeddedFont>
      <p:font typeface="JetBrains Mono" panose="020B0604020202020204" charset="0"/>
      <p:regular r:id="rId16"/>
    </p:embeddedFont>
    <p:embeddedFont>
      <p:font typeface="Space Grotesk" panose="020B0604020202020204" charset="0"/>
      <p:regular r:id="rId17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62" d="100"/>
          <a:sy n="62" d="100"/>
        </p:scale>
        <p:origin x="667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font" Target="fonts/font1.fntdata"/><Relationship Id="rId16" Type="http://schemas.openxmlformats.org/officeDocument/2006/relationships/font" Target="fonts/font2.fntdata"/><Relationship Id="rId17" Type="http://schemas.openxmlformats.org/officeDocument/2006/relationships/font" Target="fonts/font3.fntdata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39218601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6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7.png"/><Relationship Id="rId4" Type="http://schemas.openxmlformats.org/officeDocument/2006/relationships/image" Target="../media/image8.png"/><Relationship Id="rId5" Type="http://schemas.openxmlformats.org/officeDocument/2006/relationships/image" Target="../media/image9.png"/><Relationship Id="rId6" Type="http://schemas.openxmlformats.org/officeDocument/2006/relationships/image" Target="../media/image10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1.png"/><Relationship Id="rId4" Type="http://schemas.openxmlformats.org/officeDocument/2006/relationships/image" Target="../media/image12.png"/><Relationship Id="rId5" Type="http://schemas.openxmlformats.org/officeDocument/2006/relationships/image" Target="../media/image13.png"/><Relationship Id="rId6" Type="http://schemas.openxmlformats.org/officeDocument/2006/relationships/image" Target="../media/image14.png"/><Relationship Id="rId7" Type="http://schemas.openxmlformats.org/officeDocument/2006/relationships/image" Target="../media/image15.png"/><Relationship Id="rId8" Type="http://schemas.openxmlformats.org/officeDocument/2006/relationships/image" Target="../media/image16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7.png"/><Relationship Id="rId4" Type="http://schemas.openxmlformats.org/officeDocument/2006/relationships/image" Target="../media/image18.png"/><Relationship Id="rId5" Type="http://schemas.openxmlformats.org/officeDocument/2006/relationships/image" Target="../media/image19.png"/><Relationship Id="rId6" Type="http://schemas.openxmlformats.org/officeDocument/2006/relationships/image" Target="../media/image20.png"/><Relationship Id="rId7" Type="http://schemas.openxmlformats.org/officeDocument/2006/relationships/image" Target="../media/image21.png"/><Relationship Id="rId8" Type="http://schemas.openxmlformats.org/officeDocument/2006/relationships/image" Target="../media/image2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23.png"/><Relationship Id="rId4" Type="http://schemas.openxmlformats.org/officeDocument/2006/relationships/image" Target="../media/image24.png"/><Relationship Id="rId5" Type="http://schemas.openxmlformats.org/officeDocument/2006/relationships/image" Target="../media/image25.png"/><Relationship Id="rId6" Type="http://schemas.openxmlformats.org/officeDocument/2006/relationships/image" Target="../media/image2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27.png"/><Relationship Id="rId4" Type="http://schemas.openxmlformats.org/officeDocument/2006/relationships/image" Target="../media/image28.png"/><Relationship Id="rId5" Type="http://schemas.openxmlformats.org/officeDocument/2006/relationships/image" Target="../media/image29.png"/><Relationship Id="rId6" Type="http://schemas.openxmlformats.org/officeDocument/2006/relationships/image" Target="../media/image30.png"/><Relationship Id="rId7" Type="http://schemas.openxmlformats.org/officeDocument/2006/relationships/image" Target="../media/image3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2.png"/><Relationship Id="rId4" Type="http://schemas.openxmlformats.org/officeDocument/2006/relationships/image" Target="../media/image33.png"/><Relationship Id="rId5" Type="http://schemas.openxmlformats.org/officeDocument/2006/relationships/image" Target="../media/image3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5.png"/><Relationship Id="rId4" Type="http://schemas.openxmlformats.org/officeDocument/2006/relationships/image" Target="../media/image36.png"/><Relationship Id="rId5" Type="http://schemas.openxmlformats.org/officeDocument/2006/relationships/image" Target="../media/image37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38.png"/><Relationship Id="rId4" Type="http://schemas.openxmlformats.org/officeDocument/2006/relationships/image" Target="../media/image39.png"/><Relationship Id="rId5" Type="http://schemas.openxmlformats.org/officeDocument/2006/relationships/image" Target="../media/image40.png"/><Relationship Id="rId6" Type="http://schemas.openxmlformats.org/officeDocument/2006/relationships/image" Target="../media/image41.png"/><Relationship Id="rId7" Type="http://schemas.openxmlformats.org/officeDocument/2006/relationships/image" Target="../media/image4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ackground-image" descr="preencoded.png"/>
          <p:cNvPicPr>
            <a:picLocks noChangeAspect="1"/>
          </p:cNvPicPr>
          <p:nvPr/>
        </p:nvPicPr>
        <p:blipFill>
          <a:blip r:embed="rId3"/>
          <a:srcRect t="28" b="28"/>
          <a:stretch/>
        </p:blipFill>
        <p:spPr>
          <a:xfrm>
            <a:off x="0" y="0"/>
            <a:ext cx="16256000" cy="9144000"/>
          </a:xfrm>
          <a:prstGeom prst="rect">
            <a:avLst/>
          </a:prstGeom>
        </p:spPr>
      </p:pic>
      <p:sp>
        <p:nvSpPr>
          <p:cNvPr id="3" name="background-mask"/>
          <p:cNvSpPr/>
          <p:nvPr/>
        </p:nvSpPr>
        <p:spPr>
          <a:xfrm>
            <a:off x="0" y="0"/>
            <a:ext cx="16256000" cy="9144000"/>
          </a:xfrm>
          <a:prstGeom prst="rect">
            <a:avLst/>
          </a:prstGeom>
          <a:solidFill>
            <a:srgbClr val="06101D">
              <a:alpha val="85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4" name="cover-topline"/>
          <p:cNvSpPr/>
          <p:nvPr/>
        </p:nvSpPr>
        <p:spPr>
          <a:xfrm>
            <a:off x="762000" y="584200"/>
            <a:ext cx="14732000" cy="9144"/>
          </a:xfrm>
          <a:prstGeom prst="line">
            <a:avLst/>
          </a:prstGeom>
          <a:ln w="25400">
            <a:solidFill>
              <a:srgbClr val="00E5FF">
                <a:alpha val="85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5" name="cover-kicker"/>
          <p:cNvSpPr/>
          <p:nvPr/>
        </p:nvSpPr>
        <p:spPr>
          <a:xfrm>
            <a:off x="990600" y="990600"/>
            <a:ext cx="5715000" cy="330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t>NEXUS 2026 // HACKATHON PRESENTATION</a:t>
            </a:r>
            <a:endParaRPr lang="en-US" sz="1400" dirty="0"/>
          </a:p>
        </p:txBody>
      </p:sp>
      <p:pic>
        <p:nvPicPr>
          <p:cNvPr id="6" name="nexus-brand" descr="preencoded.png"/>
          <p:cNvPicPr>
            <a:picLocks noChangeAspect="1"/>
          </p:cNvPicPr>
          <p:nvPr/>
        </p:nvPicPr>
        <p:blipFill>
          <a:blip r:embed="rId4"/>
          <a:srcRect t="-2560" b="-2560"/>
          <a:stretch/>
        </p:blipFill>
        <p:spPr>
          <a:xfrm>
            <a:off x="11484610" y="914400"/>
            <a:ext cx="3628390" cy="1574800"/>
          </a:xfrm>
          <a:prstGeom prst="rect">
            <a:avLst/>
          </a:prstGeom>
        </p:spPr>
      </p:pic>
      <p:sp>
        <p:nvSpPr>
          <p:cNvPr id="7" name="cover-title"/>
          <p:cNvSpPr/>
          <p:nvPr/>
        </p:nvSpPr>
        <p:spPr>
          <a:xfrm>
            <a:off x="990600" y="2946400"/>
            <a:ext cx="9144000" cy="1092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t>AegisNexus</a:t>
            </a:r>
            <a:endParaRPr lang="en-US" sz="7000" dirty="0"/>
          </a:p>
        </p:txBody>
      </p:sp>
      <p:sp>
        <p:nvSpPr>
          <p:cNvPr id="8" name="cover-tagline"/>
          <p:cNvSpPr/>
          <p:nvPr/>
        </p:nvSpPr>
        <p:spPr>
          <a:xfrm>
            <a:off x="1041400" y="4254500"/>
            <a:ext cx="9652000" cy="685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t>Detect the Signal. Defend the Decision.</a:t>
            </a:r>
            <a:endParaRPr lang="en-US" sz="3600" dirty="0"/>
          </a:p>
        </p:txBody>
      </p:sp>
      <p:sp>
        <p:nvSpPr>
          <p:cNvPr id="9" name="cover-route"/>
          <p:cNvSpPr/>
          <p:nvPr/>
        </p:nvSpPr>
        <p:spPr>
          <a:xfrm>
            <a:off x="1041400" y="5232400"/>
            <a:ext cx="4902200" cy="9144"/>
          </a:xfrm>
          <a:prstGeom prst="line">
            <a:avLst/>
          </a:prstGeom>
          <a:ln w="50800">
            <a:solidFill>
              <a:srgbClr val="FF007F"/>
            </a:solidFill>
            <a:prstDash val="solid"/>
          </a:ln>
        </p:spPr>
        <p:txBody>
          <a:bodyPr/>
          <a:p/>
        </p:txBody>
      </p:sp>
      <p:sp>
        <p:nvSpPr>
          <p:cNvPr id="10" name="cover-topic"/>
          <p:cNvSpPr/>
          <p:nvPr/>
        </p:nvSpPr>
        <p:spPr>
          <a:xfrm>
            <a:off x="1041400" y="5588000"/>
            <a:ext cx="8763000" cy="736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06"/>
              </a:lnSpc>
              <a:buNone/>
            </a:pPr>
            <a:r>
              <a:t>AI-Powered Real-Time Deepfake and Phishing Detection &amp; Defense System</a:t>
            </a:r>
            <a:endParaRPr lang="en-US" sz="2300" dirty="0"/>
          </a:p>
        </p:txBody>
      </p:sp>
      <p:sp>
        <p:nvSpPr>
          <p:cNvPr id="11" name="cover-presenters-label"/>
          <p:cNvSpPr/>
          <p:nvPr/>
        </p:nvSpPr>
        <p:spPr>
          <a:xfrm>
            <a:off x="1041400" y="6807200"/>
            <a:ext cx="27940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t>PRESENTED BY</a:t>
            </a:r>
            <a:endParaRPr lang="en-US" sz="1200" dirty="0"/>
          </a:p>
        </p:txBody>
      </p:sp>
      <p:sp>
        <p:nvSpPr>
          <p:cNvPr id="12" name="cover-presenters"/>
          <p:cNvSpPr/>
          <p:nvPr/>
        </p:nvSpPr>
        <p:spPr>
          <a:xfrm>
            <a:off x="1041400" y="7086600"/>
            <a:ext cx="7874000" cy="355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t>Mohammad Sahil • Zainab Memon</a:t>
            </a:r>
            <a:endParaRPr lang="en-US" sz="2200" dirty="0"/>
          </a:p>
        </p:txBody>
      </p:sp>
      <p:sp>
        <p:nvSpPr>
          <p:cNvPr id="13" name="cover-company"/>
          <p:cNvSpPr/>
          <p:nvPr/>
        </p:nvSpPr>
        <p:spPr>
          <a:xfrm>
            <a:off x="1041400" y="7569200"/>
            <a:ext cx="5588000" cy="3429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t>Tech Creature Solutions</a:t>
            </a:r>
            <a:endParaRPr lang="en-US" sz="1800" dirty="0"/>
          </a:p>
        </p:txBody>
      </p:sp>
      <p:sp>
        <p:nvSpPr>
          <p:cNvPr id="14" name="cover-affiliation"/>
          <p:cNvSpPr/>
          <p:nvPr/>
        </p:nvSpPr>
        <p:spPr>
          <a:xfrm>
            <a:off x="1041400" y="8001000"/>
            <a:ext cx="7747000" cy="304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t>GLS University • Faculty of Engineering and Technology</a:t>
            </a:r>
            <a:endParaRPr lang="en-US" sz="1500" dirty="0"/>
          </a:p>
        </p:txBody>
      </p:sp>
      <p:sp>
        <p:nvSpPr>
          <p:cNvPr id="15" name="cover-coordinate"/>
          <p:cNvSpPr/>
          <p:nvPr/>
        </p:nvSpPr>
        <p:spPr>
          <a:xfrm>
            <a:off x="1041400" y="8559800"/>
            <a:ext cx="5461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t>SYSTEM BRIEF // GLS NEXUS 2026 // SEC-01 • LIVE: aegis-nexus-alpha.vercel.app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F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hreat-topline"/>
          <p:cNvSpPr/>
          <p:nvPr/>
        </p:nvSpPr>
        <p:spPr>
          <a:xfrm>
            <a:off x="762000" y="584200"/>
            <a:ext cx="14732000" cy="9144"/>
          </a:xfrm>
          <a:prstGeom prst="line">
            <a:avLst/>
          </a:prstGeom>
          <a:ln w="25400">
            <a:solidFill>
              <a:srgbClr val="00E5FF">
                <a:alpha val="8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" name="threat-section"/>
          <p:cNvSpPr/>
          <p:nvPr/>
        </p:nvSpPr>
        <p:spPr>
          <a:xfrm>
            <a:off x="762000" y="914400"/>
            <a:ext cx="5334000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t>MANDATORY 01 // PROBLEM STATEMENT</a:t>
            </a:r>
            <a:endParaRPr lang="en-US" sz="1300" dirty="0"/>
          </a:p>
        </p:txBody>
      </p:sp>
      <p:sp>
        <p:nvSpPr>
          <p:cNvPr id="4" name="threat-watermark"/>
          <p:cNvSpPr/>
          <p:nvPr/>
        </p:nvSpPr>
        <p:spPr>
          <a:xfrm>
            <a:off x="13335000" y="914400"/>
            <a:ext cx="2159000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r">
              <a:buNone/>
            </a:pPr>
            <a:r>
              <a:t>NEXUS 2026</a:t>
            </a:r>
            <a:endParaRPr lang="en-US" sz="1200" dirty="0"/>
          </a:p>
        </p:txBody>
      </p:sp>
      <p:sp>
        <p:nvSpPr>
          <p:cNvPr id="5" name="threat-title"/>
          <p:cNvSpPr/>
          <p:nvPr/>
        </p:nvSpPr>
        <p:spPr>
          <a:xfrm>
            <a:off x="762000" y="1498600"/>
            <a:ext cx="7175500" cy="1320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4888"/>
              </a:lnSpc>
              <a:buNone/>
            </a:pPr>
            <a:r>
              <a:t>AI turned one phishing email into a coordinated impersonation attack</a:t>
            </a:r>
            <a:endParaRPr lang="en-US" sz="4700" dirty="0"/>
          </a:p>
        </p:txBody>
      </p:sp>
      <p:sp>
        <p:nvSpPr>
          <p:cNvPr id="6" name="threat-card-one"/>
          <p:cNvSpPr/>
          <p:nvPr/>
        </p:nvSpPr>
        <p:spPr>
          <a:xfrm>
            <a:off x="762000" y="3683000"/>
            <a:ext cx="6858000" cy="1041400"/>
          </a:xfrm>
          <a:prstGeom prst="rect">
            <a:avLst/>
          </a:prstGeom>
          <a:solidFill>
            <a:srgbClr val="141C2F"/>
          </a:solidFill>
          <a:ln w="12700">
            <a:solidFill>
              <a:srgbClr val="23304C"/>
            </a:solidFill>
            <a:prstDash val="solid"/>
          </a:ln>
        </p:spPr>
        <p:txBody>
          <a:bodyPr/>
          <a:p/>
        </p:txBody>
      </p:sp>
      <p:pic>
        <p:nvPicPr>
          <p:cNvPr id="7" name="threat-mail-icon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1400" y="3975100"/>
            <a:ext cx="406400" cy="406400"/>
          </a:xfrm>
          <a:prstGeom prst="rect">
            <a:avLst/>
          </a:prstGeom>
        </p:spPr>
      </p:pic>
      <p:sp>
        <p:nvSpPr>
          <p:cNvPr id="8" name="threat-mail-title"/>
          <p:cNvSpPr/>
          <p:nvPr/>
        </p:nvSpPr>
        <p:spPr>
          <a:xfrm>
            <a:off x="1714500" y="3886200"/>
            <a:ext cx="5461000" cy="304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t>Polished phishing</a:t>
            </a:r>
            <a:endParaRPr lang="en-US" sz="2100" dirty="0"/>
          </a:p>
        </p:txBody>
      </p:sp>
      <p:sp>
        <p:nvSpPr>
          <p:cNvPr id="9" name="threat-mail-body"/>
          <p:cNvSpPr/>
          <p:nvPr/>
        </p:nvSpPr>
        <p:spPr>
          <a:xfrm>
            <a:off x="1714500" y="4254500"/>
            <a:ext cx="5461000" cy="304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t>Trusted language, urgent payment requests, look-alike links.</a:t>
            </a:r>
            <a:endParaRPr lang="en-US" sz="1600" dirty="0"/>
          </a:p>
        </p:txBody>
      </p:sp>
      <p:sp>
        <p:nvSpPr>
          <p:cNvPr id="10" name="threat-card-two"/>
          <p:cNvSpPr/>
          <p:nvPr/>
        </p:nvSpPr>
        <p:spPr>
          <a:xfrm>
            <a:off x="762000" y="4953000"/>
            <a:ext cx="6858000" cy="1041400"/>
          </a:xfrm>
          <a:prstGeom prst="rect">
            <a:avLst/>
          </a:prstGeom>
          <a:solidFill>
            <a:srgbClr val="141C2F"/>
          </a:solidFill>
          <a:ln w="12700">
            <a:solidFill>
              <a:srgbClr val="23304C"/>
            </a:solidFill>
            <a:prstDash val="solid"/>
          </a:ln>
        </p:spPr>
        <p:txBody>
          <a:bodyPr/>
          <a:p/>
        </p:txBody>
      </p:sp>
      <p:pic>
        <p:nvPicPr>
          <p:cNvPr id="11" name="threat-audio-icon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41400" y="5245100"/>
            <a:ext cx="406400" cy="406400"/>
          </a:xfrm>
          <a:prstGeom prst="rect">
            <a:avLst/>
          </a:prstGeom>
        </p:spPr>
      </p:pic>
      <p:sp>
        <p:nvSpPr>
          <p:cNvPr id="12" name="threat-audio-title"/>
          <p:cNvSpPr/>
          <p:nvPr/>
        </p:nvSpPr>
        <p:spPr>
          <a:xfrm>
            <a:off x="1714500" y="5156200"/>
            <a:ext cx="5461000" cy="304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t>Synthetic presence</a:t>
            </a:r>
            <a:endParaRPr lang="en-US" sz="2100" dirty="0"/>
          </a:p>
        </p:txBody>
      </p:sp>
      <p:sp>
        <p:nvSpPr>
          <p:cNvPr id="13" name="threat-audio-body"/>
          <p:cNvSpPr/>
          <p:nvPr/>
        </p:nvSpPr>
        <p:spPr>
          <a:xfrm>
            <a:off x="1714500" y="5524500"/>
            <a:ext cx="5461000" cy="304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t>Cloned voice and manipulated video imitate authority.</a:t>
            </a:r>
            <a:endParaRPr lang="en-US" sz="1600" dirty="0"/>
          </a:p>
        </p:txBody>
      </p:sp>
      <p:sp>
        <p:nvSpPr>
          <p:cNvPr id="14" name="threat-card-three"/>
          <p:cNvSpPr/>
          <p:nvPr/>
        </p:nvSpPr>
        <p:spPr>
          <a:xfrm>
            <a:off x="762000" y="6223000"/>
            <a:ext cx="6858000" cy="1041400"/>
          </a:xfrm>
          <a:prstGeom prst="rect">
            <a:avLst/>
          </a:prstGeom>
          <a:solidFill>
            <a:srgbClr val="141C2F"/>
          </a:solidFill>
          <a:ln w="12700">
            <a:solidFill>
              <a:srgbClr val="23304C"/>
            </a:solidFill>
            <a:prstDash val="solid"/>
          </a:ln>
        </p:spPr>
        <p:txBody>
          <a:bodyPr/>
          <a:p/>
        </p:txBody>
      </p:sp>
      <p:pic>
        <p:nvPicPr>
          <p:cNvPr id="15" name="threat-network-icon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41400" y="6515100"/>
            <a:ext cx="406400" cy="406400"/>
          </a:xfrm>
          <a:prstGeom prst="rect">
            <a:avLst/>
          </a:prstGeom>
        </p:spPr>
      </p:pic>
      <p:sp>
        <p:nvSpPr>
          <p:cNvPr id="16" name="threat-network-title"/>
          <p:cNvSpPr/>
          <p:nvPr/>
        </p:nvSpPr>
        <p:spPr>
          <a:xfrm>
            <a:off x="1714500" y="6426200"/>
            <a:ext cx="5461000" cy="304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t>Multiple channels</a:t>
            </a:r>
            <a:endParaRPr lang="en-US" sz="2100" dirty="0"/>
          </a:p>
        </p:txBody>
      </p:sp>
      <p:sp>
        <p:nvSpPr>
          <p:cNvPr id="17" name="threat-network-body"/>
          <p:cNvSpPr/>
          <p:nvPr/>
        </p:nvSpPr>
        <p:spPr>
          <a:xfrm>
            <a:off x="1714500" y="6794500"/>
            <a:ext cx="5461000" cy="304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t>Email, URL, voice, video, and network activity converge.</a:t>
            </a:r>
            <a:endParaRPr lang="en-US" sz="1600" dirty="0"/>
          </a:p>
        </p:txBody>
      </p:sp>
      <p:pic>
        <p:nvPicPr>
          <p:cNvPr id="18" name="threat-visual" descr="preencoded.png"/>
          <p:cNvPicPr>
            <a:picLocks noChangeAspect="1"/>
          </p:cNvPicPr>
          <p:nvPr/>
        </p:nvPicPr>
        <p:blipFill>
          <a:blip r:embed="rId6">
            <a:alphaModFix amt="95000"/>
          </a:blip>
          <a:srcRect l="13351" r="13351"/>
          <a:stretch/>
        </p:blipFill>
        <p:spPr>
          <a:xfrm>
            <a:off x="8382000" y="2032000"/>
            <a:ext cx="7112000" cy="5461000"/>
          </a:xfrm>
          <a:prstGeom prst="rect">
            <a:avLst/>
          </a:prstGeom>
        </p:spPr>
      </p:pic>
      <p:sp>
        <p:nvSpPr>
          <p:cNvPr id="19" name="threat-visual-frame"/>
          <p:cNvSpPr/>
          <p:nvPr/>
        </p:nvSpPr>
        <p:spPr>
          <a:xfrm>
            <a:off x="8382000" y="2032000"/>
            <a:ext cx="7112000" cy="5461000"/>
          </a:xfrm>
          <a:prstGeom prst="rect">
            <a:avLst/>
          </a:prstGeom>
          <a:ln w="12700">
            <a:solidFill>
              <a:srgbClr val="23304C"/>
            </a:solidFill>
            <a:prstDash val="solid"/>
          </a:ln>
        </p:spPr>
        <p:txBody>
          <a:bodyPr/>
          <a:p/>
        </p:txBody>
      </p:sp>
      <p:sp>
        <p:nvSpPr>
          <p:cNvPr id="20" name="threat-source"/>
          <p:cNvSpPr/>
          <p:nvPr/>
        </p:nvSpPr>
        <p:spPr>
          <a:xfrm>
            <a:off x="762000" y="8128000"/>
            <a:ext cx="11049000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t>Sources: FBI IC3 Report ($55.4B BEC Losses) • NSA &amp; CISA Deepfake Guidance</a:t>
            </a:r>
            <a:endParaRPr lang="en-US" sz="1100" dirty="0"/>
          </a:p>
        </p:txBody>
      </p:sp>
      <p:sp>
        <p:nvSpPr>
          <p:cNvPr id="21" name="threat-coordinate"/>
          <p:cNvSpPr/>
          <p:nvPr/>
        </p:nvSpPr>
        <p:spPr>
          <a:xfrm>
            <a:off x="762000" y="8636000"/>
            <a:ext cx="31750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t>SEC-02 // THREAT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F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ap-topline"/>
          <p:cNvSpPr/>
          <p:nvPr/>
        </p:nvSpPr>
        <p:spPr>
          <a:xfrm>
            <a:off x="762000" y="584200"/>
            <a:ext cx="14732000" cy="9144"/>
          </a:xfrm>
          <a:prstGeom prst="line">
            <a:avLst/>
          </a:prstGeom>
          <a:ln w="25400">
            <a:solidFill>
              <a:srgbClr val="00E5FF">
                <a:alpha val="8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" name="gap-section"/>
          <p:cNvSpPr/>
          <p:nvPr/>
        </p:nvSpPr>
        <p:spPr>
          <a:xfrm>
            <a:off x="762000" y="914400"/>
            <a:ext cx="6096000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t>PROBLEM DETAIL // WHY LEGACY CONTROLS MISS CAMPAIGNS</a:t>
            </a:r>
            <a:endParaRPr lang="en-US" sz="1300" dirty="0"/>
          </a:p>
        </p:txBody>
      </p:sp>
      <p:sp>
        <p:nvSpPr>
          <p:cNvPr id="4" name="gap-watermark"/>
          <p:cNvSpPr/>
          <p:nvPr/>
        </p:nvSpPr>
        <p:spPr>
          <a:xfrm>
            <a:off x="13335000" y="914400"/>
            <a:ext cx="2159000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r">
              <a:buNone/>
            </a:pPr>
            <a:r>
              <a:t>NEXUS 2026</a:t>
            </a:r>
            <a:endParaRPr lang="en-US" sz="1200" dirty="0"/>
          </a:p>
        </p:txBody>
      </p:sp>
      <p:sp>
        <p:nvSpPr>
          <p:cNvPr id="5" name="gap-title"/>
          <p:cNvSpPr/>
          <p:nvPr/>
        </p:nvSpPr>
        <p:spPr>
          <a:xfrm>
            <a:off x="762000" y="1498600"/>
            <a:ext cx="11430000" cy="736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t>Separate alerts hide the full attack story</a:t>
            </a:r>
            <a:endParaRPr lang="en-US" sz="4500" dirty="0"/>
          </a:p>
        </p:txBody>
      </p:sp>
      <p:sp>
        <p:nvSpPr>
          <p:cNvPr id="6" name="gap-insight"/>
          <p:cNvSpPr/>
          <p:nvPr/>
        </p:nvSpPr>
        <p:spPr>
          <a:xfrm>
            <a:off x="762000" y="2336800"/>
            <a:ext cx="12700000" cy="304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t>Attackers coordinate signals; traditional tools often isolate them. AegisNexus correlates them before a payment or access decision is made.</a:t>
            </a:r>
            <a:endParaRPr lang="en-US" sz="1800" dirty="0"/>
          </a:p>
        </p:txBody>
      </p:sp>
      <p:sp>
        <p:nvSpPr>
          <p:cNvPr id="7" name="gap-left-label"/>
          <p:cNvSpPr/>
          <p:nvPr/>
        </p:nvSpPr>
        <p:spPr>
          <a:xfrm>
            <a:off x="762000" y="2870200"/>
            <a:ext cx="4572000" cy="279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t>TRADITIONAL VIEW // 4 SEPARATE ALERTS</a:t>
            </a:r>
            <a:endParaRPr lang="en-US" sz="1300" dirty="0"/>
          </a:p>
        </p:txBody>
      </p:sp>
      <p:sp>
        <p:nvSpPr>
          <p:cNvPr id="8" name="gap-right-label"/>
          <p:cNvSpPr/>
          <p:nvPr/>
        </p:nvSpPr>
        <p:spPr>
          <a:xfrm>
            <a:off x="9118600" y="2870200"/>
            <a:ext cx="5334000" cy="279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t>AEGISNEXUS VIEW // 1 CORRELATED INCIDENT</a:t>
            </a:r>
            <a:endParaRPr lang="en-US" sz="1300" dirty="0"/>
          </a:p>
        </p:txBody>
      </p:sp>
      <p:sp>
        <p:nvSpPr>
          <p:cNvPr id="9" name="gap-alert-one"/>
          <p:cNvSpPr/>
          <p:nvPr/>
        </p:nvSpPr>
        <p:spPr>
          <a:xfrm>
            <a:off x="762000" y="3352800"/>
            <a:ext cx="5334000" cy="787400"/>
          </a:xfrm>
          <a:prstGeom prst="rect">
            <a:avLst/>
          </a:prstGeom>
          <a:solidFill>
            <a:srgbClr val="141C2F"/>
          </a:solidFill>
          <a:ln w="12700">
            <a:solidFill>
              <a:srgbClr val="23304C"/>
            </a:solidFill>
            <a:prstDash val="solid"/>
          </a:ln>
        </p:spPr>
        <p:txBody>
          <a:bodyPr/>
          <a:p/>
        </p:txBody>
      </p:sp>
      <p:pic>
        <p:nvPicPr>
          <p:cNvPr id="10" name="gap-email-icon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1400" y="3568700"/>
            <a:ext cx="330200" cy="330200"/>
          </a:xfrm>
          <a:prstGeom prst="rect">
            <a:avLst/>
          </a:prstGeom>
        </p:spPr>
      </p:pic>
      <p:sp>
        <p:nvSpPr>
          <p:cNvPr id="11" name="gap-email-text"/>
          <p:cNvSpPr/>
          <p:nvPr/>
        </p:nvSpPr>
        <p:spPr>
          <a:xfrm>
            <a:off x="1651000" y="3581400"/>
            <a:ext cx="3937000" cy="2667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t>Suspicious payment email</a:t>
            </a:r>
            <a:endParaRPr lang="en-US" sz="1700" dirty="0"/>
          </a:p>
        </p:txBody>
      </p:sp>
      <p:sp>
        <p:nvSpPr>
          <p:cNvPr id="12" name="gap-alert-two"/>
          <p:cNvSpPr/>
          <p:nvPr/>
        </p:nvSpPr>
        <p:spPr>
          <a:xfrm>
            <a:off x="762000" y="4368800"/>
            <a:ext cx="5334000" cy="787400"/>
          </a:xfrm>
          <a:prstGeom prst="rect">
            <a:avLst/>
          </a:prstGeom>
          <a:solidFill>
            <a:srgbClr val="141C2F"/>
          </a:solidFill>
          <a:ln w="12700">
            <a:solidFill>
              <a:srgbClr val="23304C"/>
            </a:solidFill>
            <a:prstDash val="solid"/>
          </a:ln>
        </p:spPr>
        <p:txBody>
          <a:bodyPr/>
          <a:p/>
        </p:txBody>
      </p:sp>
      <p:pic>
        <p:nvPicPr>
          <p:cNvPr id="13" name="gap-url-icon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41400" y="4584700"/>
            <a:ext cx="330200" cy="330200"/>
          </a:xfrm>
          <a:prstGeom prst="rect">
            <a:avLst/>
          </a:prstGeom>
        </p:spPr>
      </p:pic>
      <p:sp>
        <p:nvSpPr>
          <p:cNvPr id="14" name="gap-url-text"/>
          <p:cNvSpPr/>
          <p:nvPr/>
        </p:nvSpPr>
        <p:spPr>
          <a:xfrm>
            <a:off x="1651000" y="4597400"/>
            <a:ext cx="3937000" cy="2667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t>Look-alike payment URL</a:t>
            </a:r>
            <a:endParaRPr lang="en-US" sz="1700" dirty="0"/>
          </a:p>
        </p:txBody>
      </p:sp>
      <p:sp>
        <p:nvSpPr>
          <p:cNvPr id="15" name="gap-alert-three"/>
          <p:cNvSpPr/>
          <p:nvPr/>
        </p:nvSpPr>
        <p:spPr>
          <a:xfrm>
            <a:off x="762000" y="5384800"/>
            <a:ext cx="5334000" cy="787400"/>
          </a:xfrm>
          <a:prstGeom prst="rect">
            <a:avLst/>
          </a:prstGeom>
          <a:solidFill>
            <a:srgbClr val="141C2F"/>
          </a:solidFill>
          <a:ln w="12700">
            <a:solidFill>
              <a:srgbClr val="23304C"/>
            </a:solidFill>
            <a:prstDash val="solid"/>
          </a:ln>
        </p:spPr>
        <p:txBody>
          <a:bodyPr/>
          <a:p/>
        </p:txBody>
      </p:sp>
      <p:pic>
        <p:nvPicPr>
          <p:cNvPr id="16" name="gap-voice-icon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41400" y="5600700"/>
            <a:ext cx="330200" cy="330200"/>
          </a:xfrm>
          <a:prstGeom prst="rect">
            <a:avLst/>
          </a:prstGeom>
        </p:spPr>
      </p:pic>
      <p:sp>
        <p:nvSpPr>
          <p:cNvPr id="17" name="gap-voice-text"/>
          <p:cNvSpPr/>
          <p:nvPr/>
        </p:nvSpPr>
        <p:spPr>
          <a:xfrm>
            <a:off x="1651000" y="5613400"/>
            <a:ext cx="3937000" cy="2667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t>Unknown voice note</a:t>
            </a:r>
            <a:endParaRPr lang="en-US" sz="1700" dirty="0"/>
          </a:p>
        </p:txBody>
      </p:sp>
      <p:sp>
        <p:nvSpPr>
          <p:cNvPr id="18" name="gap-alert-four"/>
          <p:cNvSpPr/>
          <p:nvPr/>
        </p:nvSpPr>
        <p:spPr>
          <a:xfrm>
            <a:off x="762000" y="6400800"/>
            <a:ext cx="5334000" cy="787400"/>
          </a:xfrm>
          <a:prstGeom prst="rect">
            <a:avLst/>
          </a:prstGeom>
          <a:solidFill>
            <a:srgbClr val="141C2F"/>
          </a:solidFill>
          <a:ln w="12700">
            <a:solidFill>
              <a:srgbClr val="23304C"/>
            </a:solidFill>
            <a:prstDash val="solid"/>
          </a:ln>
        </p:spPr>
        <p:txBody>
          <a:bodyPr/>
          <a:p/>
        </p:txBody>
      </p:sp>
      <p:pic>
        <p:nvPicPr>
          <p:cNvPr id="19" name="gap-network-icon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41400" y="6616700"/>
            <a:ext cx="330200" cy="330200"/>
          </a:xfrm>
          <a:prstGeom prst="rect">
            <a:avLst/>
          </a:prstGeom>
        </p:spPr>
      </p:pic>
      <p:sp>
        <p:nvSpPr>
          <p:cNvPr id="20" name="gap-network-text"/>
          <p:cNvSpPr/>
          <p:nvPr/>
        </p:nvSpPr>
        <p:spPr>
          <a:xfrm>
            <a:off x="1651000" y="6629400"/>
            <a:ext cx="3937000" cy="2667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t>Related domain activity</a:t>
            </a:r>
            <a:endParaRPr lang="en-US" sz="1700" dirty="0"/>
          </a:p>
        </p:txBody>
      </p:sp>
      <p:sp>
        <p:nvSpPr>
          <p:cNvPr id="21" name="gap-arrow"/>
          <p:cNvSpPr/>
          <p:nvPr/>
        </p:nvSpPr>
        <p:spPr>
          <a:xfrm>
            <a:off x="6794500" y="4724400"/>
            <a:ext cx="1460500" cy="9144"/>
          </a:xfrm>
          <a:prstGeom prst="line">
            <a:avLst/>
          </a:prstGeom>
          <a:ln w="12700">
            <a:solidFill>
              <a:srgbClr val="00E5FF">
                <a:alpha val="95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2" name="gap-arrow-caption"/>
          <p:cNvSpPr/>
          <p:nvPr/>
        </p:nvSpPr>
        <p:spPr>
          <a:xfrm>
            <a:off x="6654800" y="5130800"/>
            <a:ext cx="1778000" cy="482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260"/>
              </a:lnSpc>
              <a:buNone/>
            </a:pPr>
            <a:r>
              <a:t>CORRELATE</a:t>
            </a:r>
            <a:endParaRPr lang="en-US" sz="1200" dirty="0"/>
          </a:p>
          <a:p>
            <a:pPr marL="0" indent="0" algn="ctr">
              <a:lnSpc>
                <a:spcPts val="1260"/>
              </a:lnSpc>
              <a:buNone/>
            </a:pPr>
            <a:r>
              <a:t>EVIDENCE</a:t>
            </a:r>
            <a:endParaRPr lang="en-US" sz="1200" dirty="0"/>
          </a:p>
        </p:txBody>
      </p:sp>
      <p:sp>
        <p:nvSpPr>
          <p:cNvPr id="23" name="gap-incident"/>
          <p:cNvSpPr/>
          <p:nvPr/>
        </p:nvSpPr>
        <p:spPr>
          <a:xfrm>
            <a:off x="9118600" y="3352800"/>
            <a:ext cx="6375400" cy="3835400"/>
          </a:xfrm>
          <a:prstGeom prst="rect">
            <a:avLst/>
          </a:prstGeom>
          <a:solidFill>
            <a:srgbClr val="141C2F"/>
          </a:solidFill>
          <a:ln w="25400">
            <a:solidFill>
              <a:srgbClr val="00E5FF"/>
            </a:solidFill>
            <a:prstDash val="solid"/>
          </a:ln>
          <a:effectLst>
            <a:outerShdw blurRad="152400" dist="50800" dir="5400000" algn="bl" rotWithShape="0">
              <a:srgbClr val="000000">
                <a:alpha val="35000"/>
              </a:srgbClr>
            </a:outerShdw>
          </a:effectLst>
        </p:spPr>
        <p:txBody>
          <a:bodyPr/>
          <a:p/>
        </p:txBody>
      </p:sp>
      <p:sp>
        <p:nvSpPr>
          <p:cNvPr id="24" name="gap-risk-tag"/>
          <p:cNvSpPr/>
          <p:nvPr/>
        </p:nvSpPr>
        <p:spPr>
          <a:xfrm>
            <a:off x="9499600" y="3708400"/>
            <a:ext cx="1574800" cy="355600"/>
          </a:xfrm>
          <a:prstGeom prst="rect">
            <a:avLst/>
          </a:prstGeom>
          <a:solidFill>
            <a:srgbClr val="FFB300"/>
          </a:solidFill>
          <a:ln/>
        </p:spPr>
        <p:txBody>
          <a:bodyPr/>
          <a:p/>
        </p:txBody>
      </p:sp>
      <p:sp>
        <p:nvSpPr>
          <p:cNvPr id="25" name="gap-risk-tag-text"/>
          <p:cNvSpPr/>
          <p:nvPr/>
        </p:nvSpPr>
        <p:spPr>
          <a:xfrm>
            <a:off x="9499600" y="3759200"/>
            <a:ext cx="1574800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buNone/>
            </a:pPr>
            <a:r>
              <a:t>HIGH RISK</a:t>
            </a:r>
            <a:endParaRPr lang="en-US" sz="1200" dirty="0"/>
          </a:p>
        </p:txBody>
      </p:sp>
      <p:sp>
        <p:nvSpPr>
          <p:cNvPr id="26" name="gap-incident-title"/>
          <p:cNvSpPr/>
          <p:nvPr/>
        </p:nvSpPr>
        <p:spPr>
          <a:xfrm>
            <a:off x="9499600" y="4343400"/>
            <a:ext cx="5461000" cy="406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t>Possible CFO impersonation</a:t>
            </a:r>
            <a:endParaRPr lang="en-US" sz="2700" dirty="0"/>
          </a:p>
        </p:txBody>
      </p:sp>
      <p:sp>
        <p:nvSpPr>
          <p:cNvPr id="27" name="gap-incident-body"/>
          <p:cNvSpPr/>
          <p:nvPr/>
        </p:nvSpPr>
        <p:spPr>
          <a:xfrm>
            <a:off x="9499600" y="4953000"/>
            <a:ext cx="5334000" cy="78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250"/>
              </a:lnSpc>
              <a:buNone/>
            </a:pPr>
            <a:r>
              <a:t>Urgent-payment intent + look-alike domain + unknown voice channel + identity anomaly + linked alert history.</a:t>
            </a:r>
            <a:endParaRPr lang="en-US" sz="1800" dirty="0"/>
          </a:p>
        </p:txBody>
      </p:sp>
      <p:sp>
        <p:nvSpPr>
          <p:cNvPr id="28" name="gap-incident-divider"/>
          <p:cNvSpPr/>
          <p:nvPr/>
        </p:nvSpPr>
        <p:spPr>
          <a:xfrm>
            <a:off x="9499600" y="6070600"/>
            <a:ext cx="5384800" cy="9144"/>
          </a:xfrm>
          <a:prstGeom prst="line">
            <a:avLst/>
          </a:prstGeom>
          <a:ln w="12700">
            <a:solidFill>
              <a:srgbClr val="23304C"/>
            </a:solidFill>
            <a:prstDash val="solid"/>
          </a:ln>
        </p:spPr>
        <p:txBody>
          <a:bodyPr/>
          <a:p/>
        </p:txBody>
      </p:sp>
      <p:sp>
        <p:nvSpPr>
          <p:cNvPr id="29" name="gap-incident-action-label"/>
          <p:cNvSpPr/>
          <p:nvPr/>
        </p:nvSpPr>
        <p:spPr>
          <a:xfrm>
            <a:off x="9499600" y="6350000"/>
            <a:ext cx="22860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t>RECOMMENDED ACTION</a:t>
            </a:r>
            <a:endParaRPr lang="en-US" sz="1200" dirty="0"/>
          </a:p>
        </p:txBody>
      </p:sp>
      <p:sp>
        <p:nvSpPr>
          <p:cNvPr id="30" name="gap-incident-action"/>
          <p:cNvSpPr/>
          <p:nvPr/>
        </p:nvSpPr>
        <p:spPr>
          <a:xfrm>
            <a:off x="9499600" y="6692900"/>
            <a:ext cx="5080000" cy="279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t>Quarantine · block · notify analyst</a:t>
            </a:r>
            <a:endParaRPr lang="en-US" sz="1800" dirty="0"/>
          </a:p>
        </p:txBody>
      </p:sp>
      <p:sp>
        <p:nvSpPr>
          <p:cNvPr id="31" name="gap-coordinate"/>
          <p:cNvSpPr/>
          <p:nvPr/>
        </p:nvSpPr>
        <p:spPr>
          <a:xfrm>
            <a:off x="762000" y="8636000"/>
            <a:ext cx="31750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t>SEC-03 // PROBLEM CONTEXT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F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olution-topline"/>
          <p:cNvSpPr/>
          <p:nvPr/>
        </p:nvSpPr>
        <p:spPr>
          <a:xfrm>
            <a:off x="762000" y="584200"/>
            <a:ext cx="14732000" cy="9144"/>
          </a:xfrm>
          <a:prstGeom prst="line">
            <a:avLst/>
          </a:prstGeom>
          <a:ln w="25400">
            <a:solidFill>
              <a:srgbClr val="00E5FF">
                <a:alpha val="8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" name="solution-section"/>
          <p:cNvSpPr/>
          <p:nvPr/>
        </p:nvSpPr>
        <p:spPr>
          <a:xfrm>
            <a:off x="762000" y="914400"/>
            <a:ext cx="6350000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t>MANDATORY 02 // EXPECTED OUTCOME + PROPOSED SOLUTION</a:t>
            </a:r>
            <a:endParaRPr lang="en-US" sz="1300" dirty="0"/>
          </a:p>
        </p:txBody>
      </p:sp>
      <p:sp>
        <p:nvSpPr>
          <p:cNvPr id="4" name="solution-watermark"/>
          <p:cNvSpPr/>
          <p:nvPr/>
        </p:nvSpPr>
        <p:spPr>
          <a:xfrm>
            <a:off x="13335000" y="914400"/>
            <a:ext cx="2159000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r">
              <a:buNone/>
            </a:pPr>
            <a:r>
              <a:t>NEXUS 2026</a:t>
            </a:r>
            <a:endParaRPr lang="en-US" sz="1200" dirty="0"/>
          </a:p>
        </p:txBody>
      </p:sp>
      <p:sp>
        <p:nvSpPr>
          <p:cNvPr id="5" name="solution-title"/>
          <p:cNvSpPr/>
          <p:nvPr/>
        </p:nvSpPr>
        <p:spPr>
          <a:xfrm>
            <a:off x="762000" y="1498600"/>
            <a:ext cx="14097000" cy="685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t>AegisNexus converts signals into one defensible decision</a:t>
            </a:r>
            <a:endParaRPr lang="en-US" sz="4300" dirty="0"/>
          </a:p>
        </p:txBody>
      </p:sp>
      <p:sp>
        <p:nvSpPr>
          <p:cNvPr id="6" name="solution-promise"/>
          <p:cNvSpPr/>
          <p:nvPr/>
        </p:nvSpPr>
        <p:spPr>
          <a:xfrm>
            <a:off x="762000" y="2311400"/>
            <a:ext cx="12700000" cy="304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t>Multiple signals. One explainable risk decision. Safe human-controlled response.</a:t>
            </a:r>
            <a:endParaRPr lang="en-US" sz="1800" dirty="0"/>
          </a:p>
        </p:txBody>
      </p:sp>
      <p:sp>
        <p:nvSpPr>
          <p:cNvPr id="7" name="solution-card-one"/>
          <p:cNvSpPr/>
          <p:nvPr/>
        </p:nvSpPr>
        <p:spPr>
          <a:xfrm>
            <a:off x="762000" y="3048000"/>
            <a:ext cx="4318000" cy="1955800"/>
          </a:xfrm>
          <a:prstGeom prst="rect">
            <a:avLst/>
          </a:prstGeom>
          <a:solidFill>
            <a:srgbClr val="141C2F"/>
          </a:solidFill>
          <a:ln w="12700">
            <a:solidFill>
              <a:srgbClr val="23304C"/>
            </a:solidFill>
            <a:prstDash val="solid"/>
          </a:ln>
        </p:spPr>
        <p:txBody>
          <a:bodyPr/>
          <a:p/>
        </p:txBody>
      </p:sp>
      <p:pic>
        <p:nvPicPr>
          <p:cNvPr id="8" name="solution-icon-one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6800" y="3352800"/>
            <a:ext cx="431800" cy="431800"/>
          </a:xfrm>
          <a:prstGeom prst="rect">
            <a:avLst/>
          </a:prstGeom>
        </p:spPr>
      </p:pic>
      <p:sp>
        <p:nvSpPr>
          <p:cNvPr id="9" name="solution-title-one"/>
          <p:cNvSpPr/>
          <p:nvPr/>
        </p:nvSpPr>
        <p:spPr>
          <a:xfrm>
            <a:off x="1066800" y="3987800"/>
            <a:ext cx="3556000" cy="304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t>Phishing Intelligence</a:t>
            </a:r>
            <a:endParaRPr lang="en-US" sz="2200" dirty="0"/>
          </a:p>
        </p:txBody>
      </p:sp>
      <p:sp>
        <p:nvSpPr>
          <p:cNvPr id="10" name="solution-body-one"/>
          <p:cNvSpPr/>
          <p:nvPr/>
        </p:nvSpPr>
        <p:spPr>
          <a:xfrm>
            <a:off x="1066800" y="4406900"/>
            <a:ext cx="355600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t>Intent, sender, URL, attachment, and urgency checks.</a:t>
            </a:r>
            <a:endParaRPr lang="en-US" sz="1600" dirty="0"/>
          </a:p>
        </p:txBody>
      </p:sp>
      <p:sp>
        <p:nvSpPr>
          <p:cNvPr id="11" name="solution-card-two"/>
          <p:cNvSpPr/>
          <p:nvPr/>
        </p:nvSpPr>
        <p:spPr>
          <a:xfrm>
            <a:off x="5715000" y="3048000"/>
            <a:ext cx="4318000" cy="1955800"/>
          </a:xfrm>
          <a:prstGeom prst="rect">
            <a:avLst/>
          </a:prstGeom>
          <a:solidFill>
            <a:srgbClr val="141C2F"/>
          </a:solidFill>
          <a:ln w="12700">
            <a:solidFill>
              <a:srgbClr val="23304C"/>
            </a:solidFill>
            <a:prstDash val="solid"/>
          </a:ln>
        </p:spPr>
        <p:txBody>
          <a:bodyPr/>
          <a:p/>
        </p:txBody>
      </p:sp>
      <p:pic>
        <p:nvPicPr>
          <p:cNvPr id="12" name="solution-icon-two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19800" y="3352800"/>
            <a:ext cx="431800" cy="431800"/>
          </a:xfrm>
          <a:prstGeom prst="rect">
            <a:avLst/>
          </a:prstGeom>
        </p:spPr>
      </p:pic>
      <p:sp>
        <p:nvSpPr>
          <p:cNvPr id="13" name="solution-title-two"/>
          <p:cNvSpPr/>
          <p:nvPr/>
        </p:nvSpPr>
        <p:spPr>
          <a:xfrm>
            <a:off x="6019800" y="3987800"/>
            <a:ext cx="3556000" cy="304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t>Deepfake Analysis</a:t>
            </a:r>
            <a:endParaRPr lang="en-US" sz="2200" dirty="0"/>
          </a:p>
        </p:txBody>
      </p:sp>
      <p:sp>
        <p:nvSpPr>
          <p:cNvPr id="14" name="solution-body-two"/>
          <p:cNvSpPr/>
          <p:nvPr/>
        </p:nvSpPr>
        <p:spPr>
          <a:xfrm>
            <a:off x="6019800" y="4406900"/>
            <a:ext cx="355600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t>Voice mismatch, replay clues, facial and lip-sync indicators.</a:t>
            </a:r>
            <a:endParaRPr lang="en-US" sz="1600" dirty="0"/>
          </a:p>
        </p:txBody>
      </p:sp>
      <p:sp>
        <p:nvSpPr>
          <p:cNvPr id="15" name="solution-card-three"/>
          <p:cNvSpPr/>
          <p:nvPr/>
        </p:nvSpPr>
        <p:spPr>
          <a:xfrm>
            <a:off x="10668000" y="3048000"/>
            <a:ext cx="4318000" cy="1955800"/>
          </a:xfrm>
          <a:prstGeom prst="rect">
            <a:avLst/>
          </a:prstGeom>
          <a:solidFill>
            <a:srgbClr val="141C2F"/>
          </a:solidFill>
          <a:ln w="12700">
            <a:solidFill>
              <a:srgbClr val="23304C"/>
            </a:solidFill>
            <a:prstDash val="solid"/>
          </a:ln>
        </p:spPr>
        <p:txBody>
          <a:bodyPr/>
          <a:p/>
        </p:txBody>
      </p:sp>
      <p:pic>
        <p:nvPicPr>
          <p:cNvPr id="16" name="solution-icon-three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972800" y="3352800"/>
            <a:ext cx="431800" cy="431800"/>
          </a:xfrm>
          <a:prstGeom prst="rect">
            <a:avLst/>
          </a:prstGeom>
        </p:spPr>
      </p:pic>
      <p:sp>
        <p:nvSpPr>
          <p:cNvPr id="17" name="solution-title-three"/>
          <p:cNvSpPr/>
          <p:nvPr/>
        </p:nvSpPr>
        <p:spPr>
          <a:xfrm>
            <a:off x="10972800" y="3987800"/>
            <a:ext cx="3556000" cy="304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t>Executive Digital Twin</a:t>
            </a:r>
            <a:endParaRPr lang="en-US" sz="2200" dirty="0"/>
          </a:p>
        </p:txBody>
      </p:sp>
      <p:sp>
        <p:nvSpPr>
          <p:cNvPr id="18" name="solution-body-three"/>
          <p:cNvSpPr/>
          <p:nvPr/>
        </p:nvSpPr>
        <p:spPr>
          <a:xfrm>
            <a:off x="10972800" y="4406900"/>
            <a:ext cx="355600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t>Approved channels, behavior, and transaction patterns.</a:t>
            </a:r>
            <a:endParaRPr lang="en-US" sz="1600" dirty="0"/>
          </a:p>
        </p:txBody>
      </p:sp>
      <p:sp>
        <p:nvSpPr>
          <p:cNvPr id="19" name="solution-card-four"/>
          <p:cNvSpPr/>
          <p:nvPr/>
        </p:nvSpPr>
        <p:spPr>
          <a:xfrm>
            <a:off x="762000" y="5410200"/>
            <a:ext cx="4318000" cy="1955800"/>
          </a:xfrm>
          <a:prstGeom prst="rect">
            <a:avLst/>
          </a:prstGeom>
          <a:solidFill>
            <a:srgbClr val="141C2F"/>
          </a:solidFill>
          <a:ln w="12700">
            <a:solidFill>
              <a:srgbClr val="23304C"/>
            </a:solidFill>
            <a:prstDash val="solid"/>
          </a:ln>
        </p:spPr>
        <p:txBody>
          <a:bodyPr/>
          <a:p/>
        </p:txBody>
      </p:sp>
      <p:pic>
        <p:nvPicPr>
          <p:cNvPr id="20" name="solution-icon-four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66800" y="5715000"/>
            <a:ext cx="431800" cy="431800"/>
          </a:xfrm>
          <a:prstGeom prst="rect">
            <a:avLst/>
          </a:prstGeom>
        </p:spPr>
      </p:pic>
      <p:sp>
        <p:nvSpPr>
          <p:cNvPr id="21" name="solution-title-four"/>
          <p:cNvSpPr/>
          <p:nvPr/>
        </p:nvSpPr>
        <p:spPr>
          <a:xfrm>
            <a:off x="1066800" y="6350000"/>
            <a:ext cx="3556000" cy="304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t>Threat + Network Context</a:t>
            </a:r>
            <a:endParaRPr lang="en-US" sz="2200" dirty="0"/>
          </a:p>
        </p:txBody>
      </p:sp>
      <p:sp>
        <p:nvSpPr>
          <p:cNvPr id="22" name="solution-body-four"/>
          <p:cNvSpPr/>
          <p:nvPr/>
        </p:nvSpPr>
        <p:spPr>
          <a:xfrm>
            <a:off x="1066800" y="6769100"/>
            <a:ext cx="355600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t>Domains, IPs, devices, DNS activity, and policy signals.</a:t>
            </a:r>
            <a:endParaRPr lang="en-US" sz="1600" dirty="0"/>
          </a:p>
        </p:txBody>
      </p:sp>
      <p:sp>
        <p:nvSpPr>
          <p:cNvPr id="23" name="solution-card-five"/>
          <p:cNvSpPr/>
          <p:nvPr/>
        </p:nvSpPr>
        <p:spPr>
          <a:xfrm>
            <a:off x="5715000" y="5410200"/>
            <a:ext cx="4318000" cy="1955800"/>
          </a:xfrm>
          <a:prstGeom prst="rect">
            <a:avLst/>
          </a:prstGeom>
          <a:solidFill>
            <a:srgbClr val="141C2F"/>
          </a:solidFill>
          <a:ln w="12700">
            <a:solidFill>
              <a:srgbClr val="23304C"/>
            </a:solidFill>
            <a:prstDash val="solid"/>
          </a:ln>
        </p:spPr>
        <p:txBody>
          <a:bodyPr/>
          <a:p/>
        </p:txBody>
      </p:sp>
      <p:pic>
        <p:nvPicPr>
          <p:cNvPr id="24" name="solution-icon-five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019800" y="5715000"/>
            <a:ext cx="431800" cy="431800"/>
          </a:xfrm>
          <a:prstGeom prst="rect">
            <a:avLst/>
          </a:prstGeom>
        </p:spPr>
      </p:pic>
      <p:sp>
        <p:nvSpPr>
          <p:cNvPr id="25" name="solution-title-five"/>
          <p:cNvSpPr/>
          <p:nvPr/>
        </p:nvSpPr>
        <p:spPr>
          <a:xfrm>
            <a:off x="6019800" y="6350000"/>
            <a:ext cx="3556000" cy="304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t>AI Attack Graph</a:t>
            </a:r>
            <a:endParaRPr lang="en-US" sz="2200" dirty="0"/>
          </a:p>
        </p:txBody>
      </p:sp>
      <p:sp>
        <p:nvSpPr>
          <p:cNvPr id="26" name="solution-body-five"/>
          <p:cNvSpPr/>
          <p:nvPr/>
        </p:nvSpPr>
        <p:spPr>
          <a:xfrm>
            <a:off x="6019800" y="6769100"/>
            <a:ext cx="355600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t>Links people, URLs, phones, devices, and past alerts.</a:t>
            </a:r>
            <a:endParaRPr lang="en-US" sz="1600" dirty="0"/>
          </a:p>
        </p:txBody>
      </p:sp>
      <p:sp>
        <p:nvSpPr>
          <p:cNvPr id="27" name="solution-card-six"/>
          <p:cNvSpPr/>
          <p:nvPr/>
        </p:nvSpPr>
        <p:spPr>
          <a:xfrm>
            <a:off x="10668000" y="5410200"/>
            <a:ext cx="4318000" cy="1955800"/>
          </a:xfrm>
          <a:prstGeom prst="rect">
            <a:avLst/>
          </a:prstGeom>
          <a:solidFill>
            <a:srgbClr val="141C2F"/>
          </a:solidFill>
          <a:ln w="12700">
            <a:solidFill>
              <a:srgbClr val="FFB300"/>
            </a:solidFill>
            <a:prstDash val="solid"/>
          </a:ln>
        </p:spPr>
        <p:txBody>
          <a:bodyPr/>
          <a:p/>
        </p:txBody>
      </p:sp>
      <p:pic>
        <p:nvPicPr>
          <p:cNvPr id="28" name="solution-icon-six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972800" y="5715000"/>
            <a:ext cx="431800" cy="431800"/>
          </a:xfrm>
          <a:prstGeom prst="rect">
            <a:avLst/>
          </a:prstGeom>
        </p:spPr>
      </p:pic>
      <p:sp>
        <p:nvSpPr>
          <p:cNvPr id="29" name="solution-title-six"/>
          <p:cNvSpPr/>
          <p:nvPr/>
        </p:nvSpPr>
        <p:spPr>
          <a:xfrm>
            <a:off x="10972800" y="6350000"/>
            <a:ext cx="3556000" cy="304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t>Explainable Risk + Response</a:t>
            </a:r>
            <a:endParaRPr lang="en-US" sz="2200" dirty="0"/>
          </a:p>
        </p:txBody>
      </p:sp>
      <p:sp>
        <p:nvSpPr>
          <p:cNvPr id="30" name="solution-body-six"/>
          <p:cNvSpPr/>
          <p:nvPr/>
        </p:nvSpPr>
        <p:spPr>
          <a:xfrm>
            <a:off x="10972800" y="6769100"/>
            <a:ext cx="355600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t>Score, evidence, confidence, action, and analyst approval.</a:t>
            </a:r>
            <a:endParaRPr lang="en-US" sz="1600" dirty="0"/>
          </a:p>
        </p:txBody>
      </p:sp>
      <p:sp>
        <p:nvSpPr>
          <p:cNvPr id="31" name="solution-output-strip"/>
          <p:cNvSpPr/>
          <p:nvPr/>
        </p:nvSpPr>
        <p:spPr>
          <a:xfrm>
            <a:off x="3175000" y="7747000"/>
            <a:ext cx="9906000" cy="482600"/>
          </a:xfrm>
          <a:prstGeom prst="rect">
            <a:avLst/>
          </a:prstGeom>
          <a:solidFill>
            <a:srgbClr val="141C2F">
              <a:alpha val="80000"/>
            </a:srgbClr>
          </a:solidFill>
          <a:ln w="12700">
            <a:solidFill>
              <a:srgbClr val="00E5FF"/>
            </a:solidFill>
            <a:prstDash val="solid"/>
          </a:ln>
        </p:spPr>
        <p:txBody>
          <a:bodyPr/>
          <a:p/>
        </p:txBody>
      </p:sp>
      <p:sp>
        <p:nvSpPr>
          <p:cNvPr id="32" name="solution-output-label"/>
          <p:cNvSpPr/>
          <p:nvPr/>
        </p:nvSpPr>
        <p:spPr>
          <a:xfrm>
            <a:off x="3454400" y="7874000"/>
            <a:ext cx="19685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t>EXPECTED OUTPUT</a:t>
            </a:r>
            <a:endParaRPr lang="en-US" sz="1200" dirty="0"/>
          </a:p>
        </p:txBody>
      </p:sp>
      <p:sp>
        <p:nvSpPr>
          <p:cNvPr id="33" name="solution-output-body"/>
          <p:cNvSpPr/>
          <p:nvPr/>
        </p:nvSpPr>
        <p:spPr>
          <a:xfrm>
            <a:off x="5588000" y="7861300"/>
            <a:ext cx="7112000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t>Risk score · confidence · evidence · attack graph · recommended response</a:t>
            </a:r>
            <a:endParaRPr lang="en-US" sz="1600" dirty="0"/>
          </a:p>
        </p:txBody>
      </p:sp>
      <p:sp>
        <p:nvSpPr>
          <p:cNvPr id="34" name="solution-coordinate"/>
          <p:cNvSpPr/>
          <p:nvPr/>
        </p:nvSpPr>
        <p:spPr>
          <a:xfrm>
            <a:off x="762000" y="8636000"/>
            <a:ext cx="31750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t>SEC-04 // SOLUTION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F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workflow-topline"/>
          <p:cNvSpPr/>
          <p:nvPr/>
        </p:nvSpPr>
        <p:spPr>
          <a:xfrm>
            <a:off x="762000" y="584200"/>
            <a:ext cx="14732000" cy="9144"/>
          </a:xfrm>
          <a:prstGeom prst="line">
            <a:avLst/>
          </a:prstGeom>
          <a:ln w="25400">
            <a:solidFill>
              <a:srgbClr val="00E5FF">
                <a:alpha val="8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" name="workflow-section"/>
          <p:cNvSpPr/>
          <p:nvPr/>
        </p:nvSpPr>
        <p:spPr>
          <a:xfrm>
            <a:off x="762000" y="914400"/>
            <a:ext cx="6350000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t>MANDATORY 03 // WORKFLOW DIAGRAM</a:t>
            </a:r>
            <a:endParaRPr lang="en-US" sz="1300" dirty="0"/>
          </a:p>
        </p:txBody>
      </p:sp>
      <p:sp>
        <p:nvSpPr>
          <p:cNvPr id="4" name="workflow-watermark"/>
          <p:cNvSpPr/>
          <p:nvPr/>
        </p:nvSpPr>
        <p:spPr>
          <a:xfrm>
            <a:off x="13335000" y="914400"/>
            <a:ext cx="2159000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r">
              <a:buNone/>
            </a:pPr>
            <a:r>
              <a:t>NEXUS 2026</a:t>
            </a:r>
            <a:endParaRPr lang="en-US" sz="1200" dirty="0"/>
          </a:p>
        </p:txBody>
      </p:sp>
      <p:sp>
        <p:nvSpPr>
          <p:cNvPr id="5" name="workflow-title"/>
          <p:cNvSpPr/>
          <p:nvPr/>
        </p:nvSpPr>
        <p:spPr>
          <a:xfrm>
            <a:off x="762000" y="1498600"/>
            <a:ext cx="10160000" cy="685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t>The real-time defense workflow</a:t>
            </a:r>
            <a:endParaRPr lang="en-US" sz="4500" dirty="0"/>
          </a:p>
        </p:txBody>
      </p:sp>
      <p:sp>
        <p:nvSpPr>
          <p:cNvPr id="6" name="workflow-subtitle"/>
          <p:cNvSpPr/>
          <p:nvPr/>
        </p:nvSpPr>
        <p:spPr>
          <a:xfrm>
            <a:off x="762000" y="2336800"/>
            <a:ext cx="11811000" cy="355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t>From a suspicious event to an explainable, human-controlled response.</a:t>
            </a:r>
            <a:endParaRPr lang="en-US" sz="1900" dirty="0"/>
          </a:p>
        </p:txBody>
      </p:sp>
      <p:sp>
        <p:nvSpPr>
          <p:cNvPr id="7" name="workflow-stage-one"/>
          <p:cNvSpPr/>
          <p:nvPr/>
        </p:nvSpPr>
        <p:spPr>
          <a:xfrm>
            <a:off x="762000" y="3378200"/>
            <a:ext cx="2463800" cy="2159000"/>
          </a:xfrm>
          <a:prstGeom prst="rect">
            <a:avLst/>
          </a:prstGeom>
          <a:solidFill>
            <a:srgbClr val="141C2F"/>
          </a:solidFill>
          <a:ln w="12700">
            <a:solidFill>
              <a:srgbClr val="23304C"/>
            </a:solidFill>
            <a:prstDash val="solid"/>
          </a:ln>
        </p:spPr>
        <p:txBody>
          <a:bodyPr/>
          <a:p/>
        </p:txBody>
      </p:sp>
      <p:sp>
        <p:nvSpPr>
          <p:cNvPr id="8" name="workflow-stage-one-edge"/>
          <p:cNvSpPr/>
          <p:nvPr/>
        </p:nvSpPr>
        <p:spPr>
          <a:xfrm>
            <a:off x="762000" y="3378200"/>
            <a:ext cx="2463800" cy="9144"/>
          </a:xfrm>
          <a:prstGeom prst="line">
            <a:avLst/>
          </a:prstGeom>
          <a:ln w="38100">
            <a:solidFill>
              <a:srgbClr val="00E5FF"/>
            </a:solidFill>
            <a:prstDash val="solid"/>
          </a:ln>
        </p:spPr>
        <p:txBody>
          <a:bodyPr/>
          <a:p/>
        </p:txBody>
      </p:sp>
      <p:pic>
        <p:nvPicPr>
          <p:cNvPr id="9" name="workflow-stage-one-icon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6800" y="3683000"/>
            <a:ext cx="406400" cy="406400"/>
          </a:xfrm>
          <a:prstGeom prst="rect">
            <a:avLst/>
          </a:prstGeom>
        </p:spPr>
      </p:pic>
      <p:sp>
        <p:nvSpPr>
          <p:cNvPr id="10" name="workflow-stage-one-label"/>
          <p:cNvSpPr/>
          <p:nvPr/>
        </p:nvSpPr>
        <p:spPr>
          <a:xfrm>
            <a:off x="1066800" y="4267200"/>
            <a:ext cx="1841500" cy="279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t>Multimodal input</a:t>
            </a:r>
            <a:endParaRPr lang="en-US" sz="2000" dirty="0"/>
          </a:p>
        </p:txBody>
      </p:sp>
      <p:sp>
        <p:nvSpPr>
          <p:cNvPr id="11" name="workflow-stage-one-body"/>
          <p:cNvSpPr/>
          <p:nvPr/>
        </p:nvSpPr>
        <p:spPr>
          <a:xfrm>
            <a:off x="1066800" y="4686300"/>
            <a:ext cx="1841500" cy="584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t>Email · voice · video · network</a:t>
            </a:r>
            <a:endParaRPr lang="en-US" sz="1500" dirty="0"/>
          </a:p>
        </p:txBody>
      </p:sp>
      <p:sp>
        <p:nvSpPr>
          <p:cNvPr id="12" name="workflow-arrow-one"/>
          <p:cNvSpPr/>
          <p:nvPr/>
        </p:nvSpPr>
        <p:spPr>
          <a:xfrm>
            <a:off x="3276600" y="4445000"/>
            <a:ext cx="355600" cy="9144"/>
          </a:xfrm>
          <a:prstGeom prst="line">
            <a:avLst/>
          </a:prstGeom>
          <a:ln w="12700">
            <a:solidFill>
              <a:srgbClr val="00E5FF"/>
            </a:solidFill>
            <a:prstDash val="solid"/>
          </a:ln>
        </p:spPr>
        <p:txBody>
          <a:bodyPr/>
          <a:p/>
        </p:txBody>
      </p:sp>
      <p:sp>
        <p:nvSpPr>
          <p:cNvPr id="13" name="workflow-stage-two"/>
          <p:cNvSpPr/>
          <p:nvPr/>
        </p:nvSpPr>
        <p:spPr>
          <a:xfrm>
            <a:off x="3683000" y="3378200"/>
            <a:ext cx="2463800" cy="2159000"/>
          </a:xfrm>
          <a:prstGeom prst="rect">
            <a:avLst/>
          </a:prstGeom>
          <a:solidFill>
            <a:srgbClr val="141C2F"/>
          </a:solidFill>
          <a:ln w="12700">
            <a:solidFill>
              <a:srgbClr val="23304C"/>
            </a:solidFill>
            <a:prstDash val="solid"/>
          </a:ln>
        </p:spPr>
        <p:txBody>
          <a:bodyPr/>
          <a:p/>
        </p:txBody>
      </p:sp>
      <p:sp>
        <p:nvSpPr>
          <p:cNvPr id="14" name="workflow-stage-two-edge"/>
          <p:cNvSpPr/>
          <p:nvPr/>
        </p:nvSpPr>
        <p:spPr>
          <a:xfrm>
            <a:off x="3683000" y="3378200"/>
            <a:ext cx="2463800" cy="9144"/>
          </a:xfrm>
          <a:prstGeom prst="line">
            <a:avLst/>
          </a:prstGeom>
          <a:ln w="38100">
            <a:solidFill>
              <a:srgbClr val="00E5FF"/>
            </a:solidFill>
            <a:prstDash val="solid"/>
          </a:ln>
        </p:spPr>
        <p:txBody>
          <a:bodyPr/>
          <a:p/>
        </p:txBody>
      </p:sp>
      <p:pic>
        <p:nvPicPr>
          <p:cNvPr id="15" name="workflow-stage-two-icon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87800" y="3683000"/>
            <a:ext cx="406400" cy="406400"/>
          </a:xfrm>
          <a:prstGeom prst="rect">
            <a:avLst/>
          </a:prstGeom>
        </p:spPr>
      </p:pic>
      <p:sp>
        <p:nvSpPr>
          <p:cNvPr id="16" name="workflow-stage-two-label"/>
          <p:cNvSpPr/>
          <p:nvPr/>
        </p:nvSpPr>
        <p:spPr>
          <a:xfrm>
            <a:off x="3987800" y="4267200"/>
            <a:ext cx="1841500" cy="279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t>Evidence ingest</a:t>
            </a:r>
            <a:endParaRPr lang="en-US" sz="2000" dirty="0"/>
          </a:p>
        </p:txBody>
      </p:sp>
      <p:sp>
        <p:nvSpPr>
          <p:cNvPr id="17" name="workflow-stage-two-body"/>
          <p:cNvSpPr/>
          <p:nvPr/>
        </p:nvSpPr>
        <p:spPr>
          <a:xfrm>
            <a:off x="3987800" y="4686300"/>
            <a:ext cx="1841500" cy="584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t>Text · URLs · metadata · media features</a:t>
            </a:r>
            <a:endParaRPr lang="en-US" sz="1500" dirty="0"/>
          </a:p>
        </p:txBody>
      </p:sp>
      <p:sp>
        <p:nvSpPr>
          <p:cNvPr id="18" name="workflow-arrow-two"/>
          <p:cNvSpPr/>
          <p:nvPr/>
        </p:nvSpPr>
        <p:spPr>
          <a:xfrm>
            <a:off x="6197600" y="4445000"/>
            <a:ext cx="355600" cy="9144"/>
          </a:xfrm>
          <a:prstGeom prst="line">
            <a:avLst/>
          </a:prstGeom>
          <a:ln w="12700">
            <a:solidFill>
              <a:srgbClr val="00E5FF"/>
            </a:solidFill>
            <a:prstDash val="solid"/>
          </a:ln>
        </p:spPr>
        <p:txBody>
          <a:bodyPr/>
          <a:p/>
        </p:txBody>
      </p:sp>
      <p:sp>
        <p:nvSpPr>
          <p:cNvPr id="19" name="workflow-stage-three"/>
          <p:cNvSpPr/>
          <p:nvPr/>
        </p:nvSpPr>
        <p:spPr>
          <a:xfrm>
            <a:off x="6604000" y="3378200"/>
            <a:ext cx="2717800" cy="2159000"/>
          </a:xfrm>
          <a:prstGeom prst="rect">
            <a:avLst/>
          </a:prstGeom>
          <a:solidFill>
            <a:srgbClr val="141C2F"/>
          </a:solidFill>
          <a:ln w="12700">
            <a:solidFill>
              <a:srgbClr val="23304C"/>
            </a:solidFill>
            <a:prstDash val="solid"/>
          </a:ln>
        </p:spPr>
        <p:txBody>
          <a:bodyPr/>
          <a:p/>
        </p:txBody>
      </p:sp>
      <p:sp>
        <p:nvSpPr>
          <p:cNvPr id="20" name="workflow-stage-three-edge"/>
          <p:cNvSpPr/>
          <p:nvPr/>
        </p:nvSpPr>
        <p:spPr>
          <a:xfrm>
            <a:off x="6604000" y="3378200"/>
            <a:ext cx="2717800" cy="9144"/>
          </a:xfrm>
          <a:prstGeom prst="line">
            <a:avLst/>
          </a:prstGeom>
          <a:ln w="38100">
            <a:solidFill>
              <a:srgbClr val="00E5FF"/>
            </a:solidFill>
            <a:prstDash val="solid"/>
          </a:ln>
        </p:spPr>
        <p:txBody>
          <a:bodyPr/>
          <a:p/>
        </p:txBody>
      </p:sp>
      <p:pic>
        <p:nvPicPr>
          <p:cNvPr id="21" name="workflow-stage-three-icon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08800" y="3683000"/>
            <a:ext cx="406400" cy="406400"/>
          </a:xfrm>
          <a:prstGeom prst="rect">
            <a:avLst/>
          </a:prstGeom>
        </p:spPr>
      </p:pic>
      <p:sp>
        <p:nvSpPr>
          <p:cNvPr id="22" name="workflow-stage-three-label"/>
          <p:cNvSpPr/>
          <p:nvPr/>
        </p:nvSpPr>
        <p:spPr>
          <a:xfrm>
            <a:off x="6908800" y="4267200"/>
            <a:ext cx="2095500" cy="279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t>Parallel verification</a:t>
            </a:r>
            <a:endParaRPr lang="en-US" sz="2000" dirty="0"/>
          </a:p>
        </p:txBody>
      </p:sp>
      <p:sp>
        <p:nvSpPr>
          <p:cNvPr id="23" name="workflow-stage-three-body"/>
          <p:cNvSpPr/>
          <p:nvPr/>
        </p:nvSpPr>
        <p:spPr>
          <a:xfrm>
            <a:off x="6908800" y="4686300"/>
            <a:ext cx="2095500" cy="584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t>Phishing · deepfake · digital twin · threat checks</a:t>
            </a:r>
            <a:endParaRPr lang="en-US" sz="1500" dirty="0"/>
          </a:p>
        </p:txBody>
      </p:sp>
      <p:sp>
        <p:nvSpPr>
          <p:cNvPr id="24" name="workflow-arrow-three"/>
          <p:cNvSpPr/>
          <p:nvPr/>
        </p:nvSpPr>
        <p:spPr>
          <a:xfrm>
            <a:off x="9372600" y="4445000"/>
            <a:ext cx="355600" cy="9144"/>
          </a:xfrm>
          <a:prstGeom prst="line">
            <a:avLst/>
          </a:prstGeom>
          <a:ln w="12700">
            <a:solidFill>
              <a:srgbClr val="00E5FF"/>
            </a:solidFill>
            <a:prstDash val="solid"/>
          </a:ln>
        </p:spPr>
        <p:txBody>
          <a:bodyPr/>
          <a:p/>
        </p:txBody>
      </p:sp>
      <p:sp>
        <p:nvSpPr>
          <p:cNvPr id="25" name="workflow-stage-four"/>
          <p:cNvSpPr/>
          <p:nvPr/>
        </p:nvSpPr>
        <p:spPr>
          <a:xfrm>
            <a:off x="9779000" y="3378200"/>
            <a:ext cx="2463800" cy="2159000"/>
          </a:xfrm>
          <a:prstGeom prst="rect">
            <a:avLst/>
          </a:prstGeom>
          <a:solidFill>
            <a:srgbClr val="141C2F"/>
          </a:solidFill>
          <a:ln w="12700">
            <a:solidFill>
              <a:srgbClr val="23304C"/>
            </a:solidFill>
            <a:prstDash val="solid"/>
          </a:ln>
        </p:spPr>
        <p:txBody>
          <a:bodyPr/>
          <a:p/>
        </p:txBody>
      </p:sp>
      <p:sp>
        <p:nvSpPr>
          <p:cNvPr id="26" name="workflow-stage-four-edge"/>
          <p:cNvSpPr/>
          <p:nvPr/>
        </p:nvSpPr>
        <p:spPr>
          <a:xfrm>
            <a:off x="9779000" y="3378200"/>
            <a:ext cx="2463800" cy="9144"/>
          </a:xfrm>
          <a:prstGeom prst="line">
            <a:avLst/>
          </a:prstGeom>
          <a:ln w="38100">
            <a:solidFill>
              <a:srgbClr val="00E5FF"/>
            </a:solidFill>
            <a:prstDash val="solid"/>
          </a:ln>
        </p:spPr>
        <p:txBody>
          <a:bodyPr/>
          <a:p/>
        </p:txBody>
      </p:sp>
      <p:pic>
        <p:nvPicPr>
          <p:cNvPr id="27" name="workflow-stage-four-icon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083800" y="3683000"/>
            <a:ext cx="406400" cy="406400"/>
          </a:xfrm>
          <a:prstGeom prst="rect">
            <a:avLst/>
          </a:prstGeom>
        </p:spPr>
      </p:pic>
      <p:sp>
        <p:nvSpPr>
          <p:cNvPr id="28" name="workflow-stage-four-label"/>
          <p:cNvSpPr/>
          <p:nvPr/>
        </p:nvSpPr>
        <p:spPr>
          <a:xfrm>
            <a:off x="10083800" y="4267200"/>
            <a:ext cx="1841500" cy="279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t>AI Attack Graph</a:t>
            </a:r>
            <a:endParaRPr lang="en-US" sz="2000" dirty="0"/>
          </a:p>
        </p:txBody>
      </p:sp>
      <p:sp>
        <p:nvSpPr>
          <p:cNvPr id="29" name="workflow-stage-four-body"/>
          <p:cNvSpPr/>
          <p:nvPr/>
        </p:nvSpPr>
        <p:spPr>
          <a:xfrm>
            <a:off x="10083800" y="4686300"/>
            <a:ext cx="1841500" cy="584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t>Connect identities, assets, and prior alerts</a:t>
            </a:r>
            <a:endParaRPr lang="en-US" sz="1500" dirty="0"/>
          </a:p>
        </p:txBody>
      </p:sp>
      <p:sp>
        <p:nvSpPr>
          <p:cNvPr id="30" name="workflow-arrow-four"/>
          <p:cNvSpPr/>
          <p:nvPr/>
        </p:nvSpPr>
        <p:spPr>
          <a:xfrm>
            <a:off x="12293600" y="4445000"/>
            <a:ext cx="355600" cy="9144"/>
          </a:xfrm>
          <a:prstGeom prst="line">
            <a:avLst/>
          </a:prstGeom>
          <a:ln w="12700">
            <a:solidFill>
              <a:srgbClr val="FFB300"/>
            </a:solidFill>
            <a:prstDash val="solid"/>
          </a:ln>
        </p:spPr>
        <p:txBody>
          <a:bodyPr/>
          <a:p/>
        </p:txBody>
      </p:sp>
      <p:sp>
        <p:nvSpPr>
          <p:cNvPr id="31" name="workflow-stage-five"/>
          <p:cNvSpPr/>
          <p:nvPr/>
        </p:nvSpPr>
        <p:spPr>
          <a:xfrm>
            <a:off x="12700000" y="3378200"/>
            <a:ext cx="2794000" cy="2159000"/>
          </a:xfrm>
          <a:prstGeom prst="rect">
            <a:avLst/>
          </a:prstGeom>
          <a:solidFill>
            <a:srgbClr val="141C2F"/>
          </a:solidFill>
          <a:ln w="12700">
            <a:solidFill>
              <a:srgbClr val="FFB300"/>
            </a:solidFill>
            <a:prstDash val="solid"/>
          </a:ln>
        </p:spPr>
        <p:txBody>
          <a:bodyPr/>
          <a:p/>
        </p:txBody>
      </p:sp>
      <p:sp>
        <p:nvSpPr>
          <p:cNvPr id="32" name="workflow-stage-five-edge"/>
          <p:cNvSpPr/>
          <p:nvPr/>
        </p:nvSpPr>
        <p:spPr>
          <a:xfrm>
            <a:off x="12700000" y="3378200"/>
            <a:ext cx="2794000" cy="9144"/>
          </a:xfrm>
          <a:prstGeom prst="line">
            <a:avLst/>
          </a:prstGeom>
          <a:ln w="38100">
            <a:solidFill>
              <a:srgbClr val="FFB300"/>
            </a:solidFill>
            <a:prstDash val="solid"/>
          </a:ln>
        </p:spPr>
        <p:txBody>
          <a:bodyPr/>
          <a:p/>
        </p:txBody>
      </p:sp>
      <p:pic>
        <p:nvPicPr>
          <p:cNvPr id="33" name="workflow-stage-five-icon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3004800" y="3683000"/>
            <a:ext cx="406400" cy="406400"/>
          </a:xfrm>
          <a:prstGeom prst="rect">
            <a:avLst/>
          </a:prstGeom>
        </p:spPr>
      </p:pic>
      <p:sp>
        <p:nvSpPr>
          <p:cNvPr id="34" name="workflow-stage-five-label"/>
          <p:cNvSpPr/>
          <p:nvPr/>
        </p:nvSpPr>
        <p:spPr>
          <a:xfrm>
            <a:off x="13004800" y="4267200"/>
            <a:ext cx="2159000" cy="279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t>Risk + response</a:t>
            </a:r>
            <a:endParaRPr lang="en-US" sz="2000" dirty="0"/>
          </a:p>
        </p:txBody>
      </p:sp>
      <p:sp>
        <p:nvSpPr>
          <p:cNvPr id="35" name="workflow-stage-five-body"/>
          <p:cNvSpPr/>
          <p:nvPr/>
        </p:nvSpPr>
        <p:spPr>
          <a:xfrm>
            <a:off x="13004800" y="4686300"/>
            <a:ext cx="2159000" cy="584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t>Explain score · select safe playbook · approve</a:t>
            </a:r>
            <a:endParaRPr lang="en-US" sz="1500" dirty="0"/>
          </a:p>
        </p:txBody>
      </p:sp>
      <p:sp>
        <p:nvSpPr>
          <p:cNvPr id="36" name="workflow-downline"/>
          <p:cNvSpPr/>
          <p:nvPr/>
        </p:nvSpPr>
        <p:spPr>
          <a:xfrm>
            <a:off x="14097000" y="5588000"/>
            <a:ext cx="9144" cy="609600"/>
          </a:xfrm>
          <a:prstGeom prst="line">
            <a:avLst/>
          </a:prstGeom>
          <a:ln w="25400">
            <a:solidFill>
              <a:srgbClr val="00E5FF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37" name="workflow-dashboard"/>
          <p:cNvSpPr/>
          <p:nvPr/>
        </p:nvSpPr>
        <p:spPr>
          <a:xfrm>
            <a:off x="2857500" y="6502400"/>
            <a:ext cx="10541000" cy="1041400"/>
          </a:xfrm>
          <a:prstGeom prst="rect">
            <a:avLst/>
          </a:prstGeom>
          <a:solidFill>
            <a:srgbClr val="141C2F">
              <a:alpha val="80000"/>
            </a:srgbClr>
          </a:solidFill>
          <a:ln w="12700">
            <a:solidFill>
              <a:srgbClr val="00E5FF"/>
            </a:solidFill>
            <a:prstDash val="solid"/>
          </a:ln>
        </p:spPr>
        <p:txBody>
          <a:bodyPr/>
          <a:p/>
        </p:txBody>
      </p:sp>
      <p:pic>
        <p:nvPicPr>
          <p:cNvPr id="38" name="workflow-dashboard-icon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276600" y="6807200"/>
            <a:ext cx="381000" cy="381000"/>
          </a:xfrm>
          <a:prstGeom prst="rect">
            <a:avLst/>
          </a:prstGeom>
        </p:spPr>
      </p:pic>
      <p:sp>
        <p:nvSpPr>
          <p:cNvPr id="39" name="workflow-dashboard-title"/>
          <p:cNvSpPr/>
          <p:nvPr/>
        </p:nvSpPr>
        <p:spPr>
          <a:xfrm>
            <a:off x="3962400" y="6743700"/>
            <a:ext cx="3937000" cy="304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t>Security Dashboard + AI Copilot</a:t>
            </a:r>
            <a:endParaRPr lang="en-US" sz="2100" dirty="0"/>
          </a:p>
        </p:txBody>
      </p:sp>
      <p:sp>
        <p:nvSpPr>
          <p:cNvPr id="40" name="workflow-dashboard-body"/>
          <p:cNvSpPr/>
          <p:nvPr/>
        </p:nvSpPr>
        <p:spPr>
          <a:xfrm>
            <a:off x="3962400" y="7112000"/>
            <a:ext cx="8382000" cy="279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t>Risk score · evidence · attack graph · reason codes · recommended action</a:t>
            </a:r>
            <a:endParaRPr lang="en-US" sz="1600" dirty="0"/>
          </a:p>
        </p:txBody>
      </p:sp>
      <p:sp>
        <p:nvSpPr>
          <p:cNvPr id="41" name="workflow-coordinate"/>
          <p:cNvSpPr/>
          <p:nvPr/>
        </p:nvSpPr>
        <p:spPr>
          <a:xfrm>
            <a:off x="762000" y="8636000"/>
            <a:ext cx="31750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t>SEC-05 // WORKFLOW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F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raph-topline"/>
          <p:cNvSpPr/>
          <p:nvPr/>
        </p:nvSpPr>
        <p:spPr>
          <a:xfrm>
            <a:off x="762000" y="584200"/>
            <a:ext cx="14732000" cy="9144"/>
          </a:xfrm>
          <a:prstGeom prst="line">
            <a:avLst/>
          </a:prstGeom>
          <a:ln w="25400">
            <a:solidFill>
              <a:srgbClr val="00E5FF">
                <a:alpha val="8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" name="graph-section"/>
          <p:cNvSpPr/>
          <p:nvPr/>
        </p:nvSpPr>
        <p:spPr>
          <a:xfrm>
            <a:off x="762000" y="914400"/>
            <a:ext cx="4572000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t>05 // CORRELATION LAYER</a:t>
            </a:r>
            <a:endParaRPr lang="en-US" sz="1300" dirty="0"/>
          </a:p>
        </p:txBody>
      </p:sp>
      <p:sp>
        <p:nvSpPr>
          <p:cNvPr id="4" name="graph-watermark"/>
          <p:cNvSpPr/>
          <p:nvPr/>
        </p:nvSpPr>
        <p:spPr>
          <a:xfrm>
            <a:off x="13335000" y="914400"/>
            <a:ext cx="2159000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r">
              <a:buNone/>
            </a:pPr>
            <a:r>
              <a:t>NEXUS 2026</a:t>
            </a:r>
            <a:endParaRPr lang="en-US" sz="1200" dirty="0"/>
          </a:p>
        </p:txBody>
      </p:sp>
      <p:sp>
        <p:nvSpPr>
          <p:cNvPr id="5" name="graph-title"/>
          <p:cNvSpPr/>
          <p:nvPr/>
        </p:nvSpPr>
        <p:spPr>
          <a:xfrm>
            <a:off x="762000" y="1498600"/>
            <a:ext cx="5715000" cy="134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4576"/>
              </a:lnSpc>
              <a:buNone/>
            </a:pPr>
            <a:r>
              <a:t>The attack graph is the system’s memory</a:t>
            </a:r>
            <a:endParaRPr lang="en-US" sz="4400" dirty="0"/>
          </a:p>
        </p:txBody>
      </p:sp>
      <p:sp>
        <p:nvSpPr>
          <p:cNvPr id="6" name="graph-insight"/>
          <p:cNvSpPr/>
          <p:nvPr/>
        </p:nvSpPr>
        <p:spPr>
          <a:xfrm>
            <a:off x="762000" y="3310890"/>
            <a:ext cx="5207000" cy="711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470"/>
              </a:lnSpc>
              <a:buNone/>
            </a:pPr>
            <a:r>
              <a:t>One event is uncertain. Connected evidence is actionable.</a:t>
            </a:r>
            <a:endParaRPr lang="en-US" sz="1900" dirty="0"/>
          </a:p>
        </p:txBody>
      </p:sp>
      <p:pic>
        <p:nvPicPr>
          <p:cNvPr id="7" name="graph-callout-one-icon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2000" y="4381500"/>
            <a:ext cx="355600" cy="355600"/>
          </a:xfrm>
          <a:prstGeom prst="rect">
            <a:avLst/>
          </a:prstGeom>
        </p:spPr>
      </p:pic>
      <p:sp>
        <p:nvSpPr>
          <p:cNvPr id="8" name="graph-callout-one-title"/>
          <p:cNvSpPr/>
          <p:nvPr/>
        </p:nvSpPr>
        <p:spPr>
          <a:xfrm>
            <a:off x="1346200" y="4318000"/>
            <a:ext cx="3556000" cy="292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t>Correlation</a:t>
            </a:r>
            <a:endParaRPr lang="en-US" sz="2100" dirty="0"/>
          </a:p>
        </p:txBody>
      </p:sp>
      <p:sp>
        <p:nvSpPr>
          <p:cNvPr id="9" name="graph-callout-one-body"/>
          <p:cNvSpPr/>
          <p:nvPr/>
        </p:nvSpPr>
        <p:spPr>
          <a:xfrm>
            <a:off x="1346200" y="4686300"/>
            <a:ext cx="4191000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t>Find shared infrastructure, repeated targeting, and campaign overlap.</a:t>
            </a:r>
            <a:endParaRPr lang="en-US" sz="1600" dirty="0"/>
          </a:p>
        </p:txBody>
      </p:sp>
      <p:pic>
        <p:nvPicPr>
          <p:cNvPr id="10" name="graph-callout-two-icon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2000" y="5588000"/>
            <a:ext cx="355600" cy="355600"/>
          </a:xfrm>
          <a:prstGeom prst="rect">
            <a:avLst/>
          </a:prstGeom>
        </p:spPr>
      </p:pic>
      <p:sp>
        <p:nvSpPr>
          <p:cNvPr id="11" name="graph-callout-two-title"/>
          <p:cNvSpPr/>
          <p:nvPr/>
        </p:nvSpPr>
        <p:spPr>
          <a:xfrm>
            <a:off x="1346200" y="5524500"/>
            <a:ext cx="3556000" cy="292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t>Context</a:t>
            </a:r>
            <a:endParaRPr lang="en-US" sz="2100" dirty="0"/>
          </a:p>
        </p:txBody>
      </p:sp>
      <p:sp>
        <p:nvSpPr>
          <p:cNvPr id="12" name="graph-callout-two-body"/>
          <p:cNvSpPr/>
          <p:nvPr/>
        </p:nvSpPr>
        <p:spPr>
          <a:xfrm>
            <a:off x="1346200" y="5892800"/>
            <a:ext cx="4191000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t>Add identity anomalies and business impact to technical signals.</a:t>
            </a:r>
            <a:endParaRPr lang="en-US" sz="1600" dirty="0"/>
          </a:p>
        </p:txBody>
      </p:sp>
      <p:pic>
        <p:nvPicPr>
          <p:cNvPr id="13" name="graph-callout-three-icon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2000" y="6794500"/>
            <a:ext cx="355600" cy="355600"/>
          </a:xfrm>
          <a:prstGeom prst="rect">
            <a:avLst/>
          </a:prstGeom>
        </p:spPr>
      </p:pic>
      <p:sp>
        <p:nvSpPr>
          <p:cNvPr id="14" name="graph-callout-three-title"/>
          <p:cNvSpPr/>
          <p:nvPr/>
        </p:nvSpPr>
        <p:spPr>
          <a:xfrm>
            <a:off x="1346200" y="6731000"/>
            <a:ext cx="3556000" cy="292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t>Explanation</a:t>
            </a:r>
            <a:endParaRPr lang="en-US" sz="2100" dirty="0"/>
          </a:p>
        </p:txBody>
      </p:sp>
      <p:sp>
        <p:nvSpPr>
          <p:cNvPr id="15" name="graph-callout-three-body"/>
          <p:cNvSpPr/>
          <p:nvPr/>
        </p:nvSpPr>
        <p:spPr>
          <a:xfrm>
            <a:off x="1346200" y="7099300"/>
            <a:ext cx="4191000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t>Show analysts why the risk score increased and what to do next.</a:t>
            </a:r>
            <a:endParaRPr lang="en-US" sz="1600" dirty="0"/>
          </a:p>
        </p:txBody>
      </p:sp>
      <p:sp>
        <p:nvSpPr>
          <p:cNvPr id="16" name="graph-visual-panel"/>
          <p:cNvSpPr/>
          <p:nvPr/>
        </p:nvSpPr>
        <p:spPr>
          <a:xfrm>
            <a:off x="6604000" y="2159000"/>
            <a:ext cx="8890000" cy="5334000"/>
          </a:xfrm>
          <a:prstGeom prst="rect">
            <a:avLst/>
          </a:prstGeom>
          <a:solidFill>
            <a:srgbClr val="141C2F"/>
          </a:solidFill>
          <a:ln w="12700">
            <a:solidFill>
              <a:srgbClr val="23304C"/>
            </a:solidFill>
            <a:prstDash val="solid"/>
          </a:ln>
        </p:spPr>
        <p:txBody>
          <a:bodyPr/>
          <a:p/>
        </p:txBody>
      </p:sp>
      <p:pic>
        <p:nvPicPr>
          <p:cNvPr id="17" name="graph-visual" descr="preencoded.png"/>
          <p:cNvPicPr>
            <a:picLocks noChangeAspect="1"/>
          </p:cNvPicPr>
          <p:nvPr/>
        </p:nvPicPr>
        <p:blipFill>
          <a:blip r:embed="rId6">
            <a:alphaModFix amt="95000"/>
          </a:blip>
          <a:srcRect l="3098" r="3098"/>
          <a:stretch/>
        </p:blipFill>
        <p:spPr>
          <a:xfrm>
            <a:off x="6604000" y="2159000"/>
            <a:ext cx="8890000" cy="5334000"/>
          </a:xfrm>
          <a:prstGeom prst="rect">
            <a:avLst/>
          </a:prstGeom>
        </p:spPr>
      </p:pic>
      <p:sp>
        <p:nvSpPr>
          <p:cNvPr id="18" name="graph-visual-frame"/>
          <p:cNvSpPr/>
          <p:nvPr/>
        </p:nvSpPr>
        <p:spPr>
          <a:xfrm>
            <a:off x="6604000" y="2159000"/>
            <a:ext cx="8890000" cy="5334000"/>
          </a:xfrm>
          <a:prstGeom prst="rect">
            <a:avLst/>
          </a:prstGeom>
          <a:ln w="12700">
            <a:solidFill>
              <a:srgbClr val="00E5FF">
                <a:alpha val="65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9" name="graph-risk-card"/>
          <p:cNvSpPr/>
          <p:nvPr/>
        </p:nvSpPr>
        <p:spPr>
          <a:xfrm>
            <a:off x="10490200" y="6223000"/>
            <a:ext cx="3810000" cy="863600"/>
          </a:xfrm>
          <a:prstGeom prst="rect">
            <a:avLst/>
          </a:prstGeom>
          <a:solidFill>
            <a:srgbClr val="141C2F">
              <a:alpha val="90000"/>
            </a:srgbClr>
          </a:solidFill>
          <a:ln w="12700">
            <a:solidFill>
              <a:srgbClr val="FFB300"/>
            </a:solidFill>
            <a:prstDash val="solid"/>
          </a:ln>
        </p:spPr>
        <p:txBody>
          <a:bodyPr/>
          <a:p/>
        </p:txBody>
      </p:sp>
      <p:sp>
        <p:nvSpPr>
          <p:cNvPr id="20" name="graph-risk-card-label"/>
          <p:cNvSpPr/>
          <p:nvPr/>
        </p:nvSpPr>
        <p:spPr>
          <a:xfrm>
            <a:off x="10795000" y="6400800"/>
            <a:ext cx="31750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buNone/>
            </a:pPr>
            <a:r>
              <a:t>CORRELATED INCIDENT</a:t>
            </a:r>
            <a:endParaRPr lang="en-US" sz="1200" dirty="0"/>
          </a:p>
        </p:txBody>
      </p:sp>
      <p:sp>
        <p:nvSpPr>
          <p:cNvPr id="21" name="graph-risk-card-title"/>
          <p:cNvSpPr/>
          <p:nvPr/>
        </p:nvSpPr>
        <p:spPr>
          <a:xfrm>
            <a:off x="10795000" y="6718300"/>
            <a:ext cx="3175000" cy="279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buNone/>
            </a:pPr>
            <a:r>
              <a:t>HIGH-RISK CFO IMPERSONATION</a:t>
            </a:r>
            <a:endParaRPr lang="en-US" sz="1800" dirty="0"/>
          </a:p>
        </p:txBody>
      </p:sp>
      <p:sp>
        <p:nvSpPr>
          <p:cNvPr id="22" name="graph-coordinate"/>
          <p:cNvSpPr/>
          <p:nvPr/>
        </p:nvSpPr>
        <p:spPr>
          <a:xfrm>
            <a:off x="762000" y="8636000"/>
            <a:ext cx="31750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t>SEC-06 // ATTACK GRAPH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F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tack-topline"/>
          <p:cNvSpPr/>
          <p:nvPr/>
        </p:nvSpPr>
        <p:spPr>
          <a:xfrm>
            <a:off x="762000" y="584200"/>
            <a:ext cx="14732000" cy="9144"/>
          </a:xfrm>
          <a:prstGeom prst="line">
            <a:avLst/>
          </a:prstGeom>
          <a:ln w="25400">
            <a:solidFill>
              <a:srgbClr val="00E5FF">
                <a:alpha val="8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" name="stack-section"/>
          <p:cNvSpPr/>
          <p:nvPr/>
        </p:nvSpPr>
        <p:spPr>
          <a:xfrm>
            <a:off x="762000" y="914400"/>
            <a:ext cx="7112000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t>MANDATORY 04 // TECHNOLOGIES + TOOLS</a:t>
            </a:r>
            <a:endParaRPr lang="en-US" sz="1300" dirty="0"/>
          </a:p>
        </p:txBody>
      </p:sp>
      <p:sp>
        <p:nvSpPr>
          <p:cNvPr id="4" name="stack-watermark"/>
          <p:cNvSpPr/>
          <p:nvPr/>
        </p:nvSpPr>
        <p:spPr>
          <a:xfrm>
            <a:off x="13335000" y="914400"/>
            <a:ext cx="2159000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r">
              <a:buNone/>
            </a:pPr>
            <a:r>
              <a:t>NEXUS 2026</a:t>
            </a:r>
            <a:endParaRPr lang="en-US" sz="1200" dirty="0"/>
          </a:p>
        </p:txBody>
      </p:sp>
      <p:sp>
        <p:nvSpPr>
          <p:cNvPr id="5" name="stack-title"/>
          <p:cNvSpPr/>
          <p:nvPr/>
        </p:nvSpPr>
        <p:spPr>
          <a:xfrm>
            <a:off x="762000" y="1498600"/>
            <a:ext cx="12319000" cy="685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t>A feasible prototype stack maps directly to the workflow</a:t>
            </a:r>
            <a:endParaRPr lang="en-US" sz="4300" dirty="0"/>
          </a:p>
        </p:txBody>
      </p:sp>
      <p:sp>
        <p:nvSpPr>
          <p:cNvPr id="6" name="stack-subtitle"/>
          <p:cNvSpPr/>
          <p:nvPr/>
        </p:nvSpPr>
        <p:spPr>
          <a:xfrm>
            <a:off x="762000" y="2311400"/>
            <a:ext cx="8890000" cy="317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t>Modular by design—each layer can be built, tested, and demonstrated independently.</a:t>
            </a:r>
            <a:endParaRPr lang="en-US" sz="1800" dirty="0"/>
          </a:p>
        </p:txBody>
      </p:sp>
      <p:sp>
        <p:nvSpPr>
          <p:cNvPr id="7" name="stack-layer-one"/>
          <p:cNvSpPr/>
          <p:nvPr/>
        </p:nvSpPr>
        <p:spPr>
          <a:xfrm>
            <a:off x="762000" y="3048000"/>
            <a:ext cx="8890000" cy="685800"/>
          </a:xfrm>
          <a:prstGeom prst="rect">
            <a:avLst/>
          </a:prstGeom>
          <a:solidFill>
            <a:srgbClr val="141C2F"/>
          </a:solidFill>
          <a:ln w="12700">
            <a:solidFill>
              <a:srgbClr val="23304C"/>
            </a:solidFill>
            <a:prstDash val="solid"/>
          </a:ln>
        </p:spPr>
        <p:txBody>
          <a:bodyPr/>
          <a:p/>
        </p:txBody>
      </p:sp>
      <p:pic>
        <p:nvPicPr>
          <p:cNvPr id="8" name="stack-layer-one-icon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1400" y="3213100"/>
            <a:ext cx="355600" cy="355600"/>
          </a:xfrm>
          <a:prstGeom prst="rect">
            <a:avLst/>
          </a:prstGeom>
        </p:spPr>
      </p:pic>
      <p:sp>
        <p:nvSpPr>
          <p:cNvPr id="9" name="stack-layer-one-name"/>
          <p:cNvSpPr/>
          <p:nvPr/>
        </p:nvSpPr>
        <p:spPr>
          <a:xfrm>
            <a:off x="1651000" y="3213100"/>
            <a:ext cx="1905000" cy="292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t>Experience Layer</a:t>
            </a:r>
            <a:endParaRPr lang="en-US" sz="1900" dirty="0"/>
          </a:p>
        </p:txBody>
      </p:sp>
      <p:sp>
        <p:nvSpPr>
          <p:cNvPr id="10" name="stack-layer-one-tools"/>
          <p:cNvSpPr/>
          <p:nvPr/>
        </p:nvSpPr>
        <p:spPr>
          <a:xfrm>
            <a:off x="3937000" y="3213100"/>
            <a:ext cx="5207000" cy="292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t>React 19 • TypeScript • Vite • Tailwind CSS • Interactive SVG Topology</a:t>
            </a:r>
            <a:endParaRPr lang="en-US" sz="1700" dirty="0"/>
          </a:p>
        </p:txBody>
      </p:sp>
      <p:sp>
        <p:nvSpPr>
          <p:cNvPr id="11" name="stack-layer-two"/>
          <p:cNvSpPr/>
          <p:nvPr/>
        </p:nvSpPr>
        <p:spPr>
          <a:xfrm>
            <a:off x="762000" y="3898900"/>
            <a:ext cx="8890000" cy="685800"/>
          </a:xfrm>
          <a:prstGeom prst="rect">
            <a:avLst/>
          </a:prstGeom>
          <a:solidFill>
            <a:srgbClr val="141C2F"/>
          </a:solidFill>
          <a:ln w="12700">
            <a:solidFill>
              <a:srgbClr val="23304C"/>
            </a:solidFill>
            <a:prstDash val="solid"/>
          </a:ln>
        </p:spPr>
        <p:txBody>
          <a:bodyPr/>
          <a:p/>
        </p:txBody>
      </p:sp>
      <p:pic>
        <p:nvPicPr>
          <p:cNvPr id="12" name="stack-layer-two-icon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41400" y="4064000"/>
            <a:ext cx="355600" cy="355600"/>
          </a:xfrm>
          <a:prstGeom prst="rect">
            <a:avLst/>
          </a:prstGeom>
        </p:spPr>
      </p:pic>
      <p:sp>
        <p:nvSpPr>
          <p:cNvPr id="13" name="stack-layer-two-name"/>
          <p:cNvSpPr/>
          <p:nvPr/>
        </p:nvSpPr>
        <p:spPr>
          <a:xfrm>
            <a:off x="1651000" y="4064000"/>
            <a:ext cx="1905000" cy="292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t>Gateway &amp; Orchestration</a:t>
            </a:r>
            <a:endParaRPr lang="en-US" sz="1900" dirty="0"/>
          </a:p>
        </p:txBody>
      </p:sp>
      <p:sp>
        <p:nvSpPr>
          <p:cNvPr id="14" name="stack-layer-two-tools"/>
          <p:cNvSpPr/>
          <p:nvPr/>
        </p:nvSpPr>
        <p:spPr>
          <a:xfrm>
            <a:off x="3937000" y="4064000"/>
            <a:ext cx="5207000" cy="292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t>Node.js &amp; Express Gateway • REST APIs • Modular Detectors</a:t>
            </a:r>
            <a:endParaRPr lang="en-US" sz="1700" dirty="0"/>
          </a:p>
        </p:txBody>
      </p:sp>
      <p:sp>
        <p:nvSpPr>
          <p:cNvPr id="15" name="stack-layer-three"/>
          <p:cNvSpPr/>
          <p:nvPr/>
        </p:nvSpPr>
        <p:spPr>
          <a:xfrm>
            <a:off x="762000" y="4749800"/>
            <a:ext cx="8890000" cy="685800"/>
          </a:xfrm>
          <a:prstGeom prst="rect">
            <a:avLst/>
          </a:prstGeom>
          <a:solidFill>
            <a:srgbClr val="141C2F"/>
          </a:solidFill>
          <a:ln w="12700">
            <a:solidFill>
              <a:srgbClr val="23304C"/>
            </a:solidFill>
            <a:prstDash val="solid"/>
          </a:ln>
        </p:spPr>
        <p:txBody>
          <a:bodyPr/>
          <a:p/>
        </p:txBody>
      </p:sp>
      <p:pic>
        <p:nvPicPr>
          <p:cNvPr id="16" name="stack-layer-three-icon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41400" y="4914900"/>
            <a:ext cx="355600" cy="355600"/>
          </a:xfrm>
          <a:prstGeom prst="rect">
            <a:avLst/>
          </a:prstGeom>
        </p:spPr>
      </p:pic>
      <p:sp>
        <p:nvSpPr>
          <p:cNvPr id="17" name="stack-layer-three-name"/>
          <p:cNvSpPr/>
          <p:nvPr/>
        </p:nvSpPr>
        <p:spPr>
          <a:xfrm>
            <a:off x="1651000" y="4914900"/>
            <a:ext cx="1905000" cy="292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t>Intelligence</a:t>
            </a:r>
            <a:endParaRPr lang="en-US" sz="1900" dirty="0"/>
          </a:p>
        </p:txBody>
      </p:sp>
      <p:sp>
        <p:nvSpPr>
          <p:cNvPr id="18" name="stack-layer-three-tools"/>
          <p:cNvSpPr/>
          <p:nvPr/>
        </p:nvSpPr>
        <p:spPr>
          <a:xfrm>
            <a:off x="3937000" y="4914900"/>
            <a:ext cx="5207000" cy="292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t>scikit-learn / Transformers · librosa / SpeechBrain · OpenCV / MediaPipe</a:t>
            </a:r>
            <a:endParaRPr lang="en-US" sz="1500" dirty="0"/>
          </a:p>
        </p:txBody>
      </p:sp>
      <p:sp>
        <p:nvSpPr>
          <p:cNvPr id="19" name="stack-layer-four"/>
          <p:cNvSpPr/>
          <p:nvPr/>
        </p:nvSpPr>
        <p:spPr>
          <a:xfrm>
            <a:off x="762000" y="5600700"/>
            <a:ext cx="8890000" cy="685800"/>
          </a:xfrm>
          <a:prstGeom prst="rect">
            <a:avLst/>
          </a:prstGeom>
          <a:solidFill>
            <a:srgbClr val="141C2F"/>
          </a:solidFill>
          <a:ln w="12700">
            <a:solidFill>
              <a:srgbClr val="23304C"/>
            </a:solidFill>
            <a:prstDash val="solid"/>
          </a:ln>
        </p:spPr>
        <p:txBody>
          <a:bodyPr/>
          <a:p/>
        </p:txBody>
      </p:sp>
      <p:pic>
        <p:nvPicPr>
          <p:cNvPr id="20" name="stack-layer-four-icon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41400" y="5765800"/>
            <a:ext cx="355600" cy="355600"/>
          </a:xfrm>
          <a:prstGeom prst="rect">
            <a:avLst/>
          </a:prstGeom>
        </p:spPr>
      </p:pic>
      <p:sp>
        <p:nvSpPr>
          <p:cNvPr id="21" name="stack-layer-four-name"/>
          <p:cNvSpPr/>
          <p:nvPr/>
        </p:nvSpPr>
        <p:spPr>
          <a:xfrm>
            <a:off x="1651000" y="5765800"/>
            <a:ext cx="1905000" cy="292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t>Correlation</a:t>
            </a:r>
            <a:endParaRPr lang="en-US" sz="1900" dirty="0"/>
          </a:p>
        </p:txBody>
      </p:sp>
      <p:sp>
        <p:nvSpPr>
          <p:cNvPr id="22" name="stack-layer-four-tools"/>
          <p:cNvSpPr/>
          <p:nvPr/>
        </p:nvSpPr>
        <p:spPr>
          <a:xfrm>
            <a:off x="3937000" y="5765800"/>
            <a:ext cx="5207000" cy="292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t>NetworkX · threat rules · Digital Twin profiles</a:t>
            </a:r>
            <a:endParaRPr lang="en-US" sz="1700" dirty="0"/>
          </a:p>
        </p:txBody>
      </p:sp>
      <p:sp>
        <p:nvSpPr>
          <p:cNvPr id="23" name="stack-layer-five"/>
          <p:cNvSpPr/>
          <p:nvPr/>
        </p:nvSpPr>
        <p:spPr>
          <a:xfrm>
            <a:off x="762000" y="6451600"/>
            <a:ext cx="8890000" cy="685800"/>
          </a:xfrm>
          <a:prstGeom prst="rect">
            <a:avLst/>
          </a:prstGeom>
          <a:solidFill>
            <a:srgbClr val="141C2F"/>
          </a:solidFill>
          <a:ln w="12700">
            <a:solidFill>
              <a:srgbClr val="23304C"/>
            </a:solidFill>
            <a:prstDash val="solid"/>
          </a:ln>
        </p:spPr>
        <p:txBody>
          <a:bodyPr/>
          <a:p/>
        </p:txBody>
      </p:sp>
      <p:pic>
        <p:nvPicPr>
          <p:cNvPr id="24" name="stack-layer-five-icon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41400" y="6616700"/>
            <a:ext cx="355600" cy="355600"/>
          </a:xfrm>
          <a:prstGeom prst="rect">
            <a:avLst/>
          </a:prstGeom>
        </p:spPr>
      </p:pic>
      <p:sp>
        <p:nvSpPr>
          <p:cNvPr id="25" name="stack-layer-five-name"/>
          <p:cNvSpPr/>
          <p:nvPr/>
        </p:nvSpPr>
        <p:spPr>
          <a:xfrm>
            <a:off x="1651000" y="6616700"/>
            <a:ext cx="1905000" cy="292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t>Data &amp; Security Framework</a:t>
            </a:r>
            <a:endParaRPr lang="en-US" sz="1900" dirty="0"/>
          </a:p>
        </p:txBody>
      </p:sp>
      <p:sp>
        <p:nvSpPr>
          <p:cNvPr id="26" name="stack-layer-five-tools"/>
          <p:cNvSpPr/>
          <p:nvPr/>
        </p:nvSpPr>
        <p:spPr>
          <a:xfrm>
            <a:off x="3937000" y="6616700"/>
            <a:ext cx="5207000" cy="292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t>Vercel Cloud CI/CD • Local Encrypted Storage • NIST AI RMF 1.0 • MITRE ATT&amp;CK</a:t>
            </a:r>
            <a:endParaRPr lang="en-US" sz="1700" dirty="0"/>
          </a:p>
        </p:txBody>
      </p:sp>
      <p:sp>
        <p:nvSpPr>
          <p:cNvPr id="27" name="stack-mvp-card"/>
          <p:cNvSpPr/>
          <p:nvPr/>
        </p:nvSpPr>
        <p:spPr>
          <a:xfrm>
            <a:off x="10287000" y="3048000"/>
            <a:ext cx="5207000" cy="4089400"/>
          </a:xfrm>
          <a:prstGeom prst="rect">
            <a:avLst/>
          </a:prstGeom>
          <a:solidFill>
            <a:srgbClr val="141C2F"/>
          </a:solidFill>
          <a:ln w="12700">
            <a:solidFill>
              <a:srgbClr val="FFB300"/>
            </a:solidFill>
            <a:prstDash val="solid"/>
          </a:ln>
        </p:spPr>
        <p:txBody>
          <a:bodyPr/>
          <a:p/>
        </p:txBody>
      </p:sp>
      <p:sp>
        <p:nvSpPr>
          <p:cNvPr id="28" name="stack-mvp-label"/>
          <p:cNvSpPr/>
          <p:nvPr/>
        </p:nvSpPr>
        <p:spPr>
          <a:xfrm>
            <a:off x="10668000" y="3429000"/>
            <a:ext cx="4191000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t>HACKATHON MVP BOUNDARY</a:t>
            </a:r>
            <a:endParaRPr lang="en-US" sz="1300" dirty="0"/>
          </a:p>
        </p:txBody>
      </p:sp>
      <p:sp>
        <p:nvSpPr>
          <p:cNvPr id="29" name="stack-mvp-title"/>
          <p:cNvSpPr/>
          <p:nvPr/>
        </p:nvSpPr>
        <p:spPr>
          <a:xfrm>
            <a:off x="10668000" y="3911600"/>
            <a:ext cx="4191000" cy="711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t>Build the decision engine first</a:t>
            </a:r>
            <a:endParaRPr lang="en-US" sz="2700" dirty="0"/>
          </a:p>
        </p:txBody>
      </p:sp>
      <p:sp>
        <p:nvSpPr>
          <p:cNvPr id="30" name="stack-mvp-body"/>
          <p:cNvSpPr/>
          <p:nvPr/>
        </p:nvSpPr>
        <p:spPr>
          <a:xfrm>
            <a:off x="10668000" y="4889500"/>
            <a:ext cx="4064000" cy="1193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295"/>
              </a:lnSpc>
              <a:buNone/>
            </a:pPr>
            <a:r>
              <a:t>Prioritize phishing and URL analysis, audio indicators, identity rules, attack graph, explainable risk scoring, dashboard, and response simulation.</a:t>
            </a:r>
            <a:endParaRPr lang="en-US" sz="1700" dirty="0"/>
          </a:p>
        </p:txBody>
      </p:sp>
      <p:sp>
        <p:nvSpPr>
          <p:cNvPr id="31" name="stack-mvp-divider"/>
          <p:cNvSpPr/>
          <p:nvPr/>
        </p:nvSpPr>
        <p:spPr>
          <a:xfrm>
            <a:off x="10668000" y="6337300"/>
            <a:ext cx="4064000" cy="9144"/>
          </a:xfrm>
          <a:prstGeom prst="line">
            <a:avLst/>
          </a:prstGeom>
          <a:ln w="12700">
            <a:solidFill>
              <a:srgbClr val="23304C"/>
            </a:solidFill>
            <a:prstDash val="solid"/>
          </a:ln>
        </p:spPr>
        <p:txBody>
          <a:bodyPr/>
          <a:p/>
        </p:txBody>
      </p:sp>
      <p:sp>
        <p:nvSpPr>
          <p:cNvPr id="32" name="stack-mvp-foot"/>
          <p:cNvSpPr/>
          <p:nvPr/>
        </p:nvSpPr>
        <p:spPr>
          <a:xfrm>
            <a:off x="10668000" y="6604000"/>
            <a:ext cx="4064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t>Video analysis remains modular with sample input.</a:t>
            </a:r>
            <a:endParaRPr lang="en-US" sz="1600" dirty="0"/>
          </a:p>
        </p:txBody>
      </p:sp>
      <p:sp>
        <p:nvSpPr>
          <p:cNvPr id="33" name="stack-coordinate"/>
          <p:cNvSpPr/>
          <p:nvPr/>
        </p:nvSpPr>
        <p:spPr>
          <a:xfrm>
            <a:off x="762000" y="8636000"/>
            <a:ext cx="31750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t>SEC-07 // STACK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F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lgorithm-topline"/>
          <p:cNvSpPr/>
          <p:nvPr/>
        </p:nvSpPr>
        <p:spPr>
          <a:xfrm>
            <a:off x="762000" y="584200"/>
            <a:ext cx="14732000" cy="9144"/>
          </a:xfrm>
          <a:prstGeom prst="line">
            <a:avLst/>
          </a:prstGeom>
          <a:ln w="25400">
            <a:solidFill>
              <a:srgbClr val="00E5FF">
                <a:alpha val="8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" name="algorithm-section"/>
          <p:cNvSpPr/>
          <p:nvPr/>
        </p:nvSpPr>
        <p:spPr>
          <a:xfrm>
            <a:off x="762000" y="914400"/>
            <a:ext cx="7112000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t>MANDATORY 05 // PSEUDOCODE + ALGORITHM</a:t>
            </a:r>
            <a:endParaRPr lang="en-US" sz="1300" dirty="0"/>
          </a:p>
        </p:txBody>
      </p:sp>
      <p:sp>
        <p:nvSpPr>
          <p:cNvPr id="4" name="algorithm-watermark"/>
          <p:cNvSpPr/>
          <p:nvPr/>
        </p:nvSpPr>
        <p:spPr>
          <a:xfrm>
            <a:off x="13335000" y="914400"/>
            <a:ext cx="2159000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r">
              <a:buNone/>
            </a:pPr>
            <a:r>
              <a:t>NEXUS 2026</a:t>
            </a:r>
            <a:endParaRPr lang="en-US" sz="1200" dirty="0"/>
          </a:p>
        </p:txBody>
      </p:sp>
      <p:sp>
        <p:nvSpPr>
          <p:cNvPr id="5" name="algorithm-title"/>
          <p:cNvSpPr/>
          <p:nvPr/>
        </p:nvSpPr>
        <p:spPr>
          <a:xfrm>
            <a:off x="762000" y="1498600"/>
            <a:ext cx="12954000" cy="685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t>The algorithm fuses evidence before choosing action</a:t>
            </a:r>
            <a:endParaRPr lang="en-US" sz="4300" dirty="0"/>
          </a:p>
        </p:txBody>
      </p:sp>
      <p:sp>
        <p:nvSpPr>
          <p:cNvPr id="6" name="algorithm-subtitle"/>
          <p:cNvSpPr/>
          <p:nvPr/>
        </p:nvSpPr>
        <p:spPr>
          <a:xfrm>
            <a:off x="762000" y="2311400"/>
            <a:ext cx="12446000" cy="304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t>Each available modality contributes evidence; missing modalities are excluded, never guessed.</a:t>
            </a:r>
            <a:endParaRPr lang="en-US" sz="1800" dirty="0"/>
          </a:p>
        </p:txBody>
      </p:sp>
      <p:sp>
        <p:nvSpPr>
          <p:cNvPr id="7" name="algorithm-code-panel"/>
          <p:cNvSpPr/>
          <p:nvPr/>
        </p:nvSpPr>
        <p:spPr>
          <a:xfrm>
            <a:off x="762000" y="3098800"/>
            <a:ext cx="8382000" cy="4368800"/>
          </a:xfrm>
          <a:prstGeom prst="rect">
            <a:avLst/>
          </a:prstGeom>
          <a:solidFill>
            <a:srgbClr val="060B14"/>
          </a:solidFill>
          <a:ln w="12700">
            <a:solidFill>
              <a:srgbClr val="00E5FF"/>
            </a:solidFill>
            <a:prstDash val="solid"/>
          </a:ln>
        </p:spPr>
        <p:txBody>
          <a:bodyPr/>
          <a:p/>
        </p:txBody>
      </p:sp>
      <p:sp>
        <p:nvSpPr>
          <p:cNvPr id="8" name="algorithm-code-label"/>
          <p:cNvSpPr/>
          <p:nvPr/>
        </p:nvSpPr>
        <p:spPr>
          <a:xfrm>
            <a:off x="1092200" y="3378200"/>
            <a:ext cx="38100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t>FUNCTION ANALYZE_SECURITY_EVENT(event)</a:t>
            </a:r>
            <a:endParaRPr lang="en-US" sz="1200" dirty="0"/>
          </a:p>
        </p:txBody>
      </p:sp>
      <p:sp>
        <p:nvSpPr>
          <p:cNvPr id="9" name="algorithm-code"/>
          <p:cNvSpPr/>
          <p:nvPr/>
        </p:nvSpPr>
        <p:spPr>
          <a:xfrm>
            <a:off x="1092200" y="3810000"/>
            <a:ext cx="7620000" cy="3175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010"/>
              </a:lnSpc>
              <a:buNone/>
            </a:pPr>
            <a:r>
              <a:t>01 features &lt;- extract(text, URL, media, identity, network)</a:t>
            </a:r>
            <a:endParaRPr lang="en-US" sz="1500" dirty="0"/>
          </a:p>
          <a:p>
            <a:pPr marL="0" indent="0" algn="l">
              <a:lnSpc>
                <a:spcPts val="2010"/>
              </a:lnSpc>
              <a:buNone/>
            </a:pPr>
            <a:r>
              <a:t>02 scores &lt;- detectPhishing + detectAudio + detectVideo</a:t>
            </a:r>
            <a:endParaRPr lang="en-US" sz="1500" dirty="0"/>
          </a:p>
          <a:p>
            <a:pPr marL="0" indent="0" algn="l">
              <a:lnSpc>
                <a:spcPts val="2010"/>
              </a:lnSpc>
              <a:buNone/>
            </a:pPr>
            <a:r>
              <a:t>03 scores &lt;- scores + verifyDigitalTwin + checkThreatSignals</a:t>
            </a:r>
            <a:endParaRPr lang="en-US" sz="1500" dirty="0"/>
          </a:p>
          <a:p>
            <a:pPr marL="0" indent="0" algn="l">
              <a:lnSpc>
                <a:spcPts val="2010"/>
              </a:lnSpc>
              <a:buNone/>
            </a:pPr>
            <a:r>
              <a:t>04 graph &lt;- updateAndQueryAttackGraph(features)</a:t>
            </a:r>
            <a:endParaRPr lang="en-US" sz="1500" dirty="0"/>
          </a:p>
          <a:p>
            <a:pPr marL="0" indent="0" algn="l">
              <a:lnSpc>
                <a:spcPts val="2010"/>
              </a:lnSpc>
              <a:buNone/>
            </a:pPr>
            <a:r>
              <a:t>05 risk &lt;- fuse(scores, graph, businessImpact, confidence)</a:t>
            </a:r>
            <a:endParaRPr lang="en-US" sz="1500" dirty="0"/>
          </a:p>
          <a:p>
            <a:pPr marL="0" indent="0" algn="l">
              <a:lnSpc>
                <a:spcPts val="2010"/>
              </a:lnSpc>
              <a:buNone/>
            </a:pPr>
            <a:r>
              <a:t>06 reasons &lt;- generateExplanation(scores, graph)</a:t>
            </a:r>
            <a:endParaRPr lang="en-US" sz="1500" dirty="0"/>
          </a:p>
          <a:p>
            <a:pPr marL="0" indent="0" algn="l">
              <a:lnSpc>
                <a:spcPts val="2010"/>
              </a:lnSpc>
              <a:buNone/>
            </a:pPr>
            <a:r>
              <a:t>07 action &lt;- selectSafeResponse(risk)</a:t>
            </a:r>
            <a:endParaRPr lang="en-US" sz="1500" dirty="0"/>
          </a:p>
          <a:p>
            <a:pPr marL="0" indent="0" algn="l">
              <a:lnSpc>
                <a:spcPts val="2010"/>
              </a:lnSpc>
              <a:buNone/>
            </a:pPr>
            <a:r>
              <a:t>08 return risk, confidence, reasons, graph, action</a:t>
            </a:r>
            <a:endParaRPr lang="en-US" sz="1500" dirty="0"/>
          </a:p>
        </p:txBody>
      </p:sp>
      <p:sp>
        <p:nvSpPr>
          <p:cNvPr id="10" name="algorithm-code-note"/>
          <p:cNvSpPr/>
          <p:nvPr/>
        </p:nvSpPr>
        <p:spPr>
          <a:xfrm>
            <a:off x="1092200" y="7061200"/>
            <a:ext cx="74930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t>Output is an explainable decision package—not simply “fake” or “genuine”.</a:t>
            </a:r>
            <a:endParaRPr lang="en-US" sz="1100" dirty="0"/>
          </a:p>
        </p:txBody>
      </p:sp>
      <p:sp>
        <p:nvSpPr>
          <p:cNvPr id="11" name="algorithm-policy"/>
          <p:cNvSpPr/>
          <p:nvPr/>
        </p:nvSpPr>
        <p:spPr>
          <a:xfrm>
            <a:off x="9779000" y="3098800"/>
            <a:ext cx="5715000" cy="4368800"/>
          </a:xfrm>
          <a:prstGeom prst="rect">
            <a:avLst/>
          </a:prstGeom>
          <a:solidFill>
            <a:srgbClr val="141C2F"/>
          </a:solidFill>
          <a:ln w="12700">
            <a:solidFill>
              <a:srgbClr val="23304C"/>
            </a:solidFill>
            <a:prstDash val="solid"/>
          </a:ln>
        </p:spPr>
        <p:txBody>
          <a:bodyPr/>
          <a:p/>
        </p:txBody>
      </p:sp>
      <p:sp>
        <p:nvSpPr>
          <p:cNvPr id="12" name="algorithm-policy-head"/>
          <p:cNvSpPr/>
          <p:nvPr/>
        </p:nvSpPr>
        <p:spPr>
          <a:xfrm>
            <a:off x="10134600" y="3390900"/>
            <a:ext cx="4953000" cy="304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t>Risk policy → response</a:t>
            </a:r>
            <a:endParaRPr lang="en-US" sz="2200" dirty="0"/>
          </a:p>
        </p:txBody>
      </p:sp>
      <p:sp>
        <p:nvSpPr>
          <p:cNvPr id="13" name="algorithm-low"/>
          <p:cNvSpPr/>
          <p:nvPr/>
        </p:nvSpPr>
        <p:spPr>
          <a:xfrm>
            <a:off x="10134600" y="3937000"/>
            <a:ext cx="5003800" cy="533400"/>
          </a:xfrm>
          <a:prstGeom prst="rect">
            <a:avLst/>
          </a:prstGeom>
          <a:solidFill>
            <a:srgbClr val="0A0F1A"/>
          </a:solidFill>
          <a:ln w="12700">
            <a:solidFill>
              <a:srgbClr val="23304C"/>
            </a:solidFill>
            <a:prstDash val="solid"/>
          </a:ln>
        </p:spPr>
        <p:txBody>
          <a:bodyPr/>
          <a:p/>
        </p:txBody>
      </p:sp>
      <p:sp>
        <p:nvSpPr>
          <p:cNvPr id="14" name="algorithm-low-label"/>
          <p:cNvSpPr/>
          <p:nvPr/>
        </p:nvSpPr>
        <p:spPr>
          <a:xfrm>
            <a:off x="10363200" y="4076700"/>
            <a:ext cx="1041400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t>LOW</a:t>
            </a:r>
            <a:endParaRPr lang="en-US" sz="1200" dirty="0"/>
          </a:p>
        </p:txBody>
      </p:sp>
      <p:sp>
        <p:nvSpPr>
          <p:cNvPr id="15" name="algorithm-low-body"/>
          <p:cNvSpPr/>
          <p:nvPr/>
        </p:nvSpPr>
        <p:spPr>
          <a:xfrm>
            <a:off x="11620500" y="4051300"/>
            <a:ext cx="3175000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t>Allow, monitor, and log</a:t>
            </a:r>
            <a:endParaRPr lang="en-US" sz="1600" dirty="0"/>
          </a:p>
        </p:txBody>
      </p:sp>
      <p:sp>
        <p:nvSpPr>
          <p:cNvPr id="16" name="algorithm-medium"/>
          <p:cNvSpPr/>
          <p:nvPr/>
        </p:nvSpPr>
        <p:spPr>
          <a:xfrm>
            <a:off x="10134600" y="4622800"/>
            <a:ext cx="5003800" cy="533400"/>
          </a:xfrm>
          <a:prstGeom prst="rect">
            <a:avLst/>
          </a:prstGeom>
          <a:solidFill>
            <a:srgbClr val="0A0F1A"/>
          </a:solidFill>
          <a:ln w="12700">
            <a:solidFill>
              <a:srgbClr val="23304C"/>
            </a:solidFill>
            <a:prstDash val="solid"/>
          </a:ln>
        </p:spPr>
        <p:txBody>
          <a:bodyPr/>
          <a:p/>
        </p:txBody>
      </p:sp>
      <p:sp>
        <p:nvSpPr>
          <p:cNvPr id="17" name="algorithm-medium-label"/>
          <p:cNvSpPr/>
          <p:nvPr/>
        </p:nvSpPr>
        <p:spPr>
          <a:xfrm>
            <a:off x="10363200" y="4762500"/>
            <a:ext cx="1041400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t>MEDIUM</a:t>
            </a:r>
            <a:endParaRPr lang="en-US" sz="1200" dirty="0"/>
          </a:p>
        </p:txBody>
      </p:sp>
      <p:sp>
        <p:nvSpPr>
          <p:cNvPr id="18" name="algorithm-medium-body"/>
          <p:cNvSpPr/>
          <p:nvPr/>
        </p:nvSpPr>
        <p:spPr>
          <a:xfrm>
            <a:off x="11620500" y="4737100"/>
            <a:ext cx="3175000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t>Warn and verify independently</a:t>
            </a:r>
            <a:endParaRPr lang="en-US" sz="1600" dirty="0"/>
          </a:p>
        </p:txBody>
      </p:sp>
      <p:sp>
        <p:nvSpPr>
          <p:cNvPr id="19" name="algorithm-high"/>
          <p:cNvSpPr/>
          <p:nvPr/>
        </p:nvSpPr>
        <p:spPr>
          <a:xfrm>
            <a:off x="10134600" y="5308600"/>
            <a:ext cx="5003800" cy="533400"/>
          </a:xfrm>
          <a:prstGeom prst="rect">
            <a:avLst/>
          </a:prstGeom>
          <a:solidFill>
            <a:srgbClr val="0A0F1A"/>
          </a:solidFill>
          <a:ln w="12700">
            <a:solidFill>
              <a:srgbClr val="23304C"/>
            </a:solidFill>
            <a:prstDash val="solid"/>
          </a:ln>
        </p:spPr>
        <p:txBody>
          <a:bodyPr/>
          <a:p/>
        </p:txBody>
      </p:sp>
      <p:sp>
        <p:nvSpPr>
          <p:cNvPr id="20" name="algorithm-high-label"/>
          <p:cNvSpPr/>
          <p:nvPr/>
        </p:nvSpPr>
        <p:spPr>
          <a:xfrm>
            <a:off x="10363200" y="5448300"/>
            <a:ext cx="1041400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t>HIGH</a:t>
            </a:r>
            <a:endParaRPr lang="en-US" sz="1200" dirty="0"/>
          </a:p>
        </p:txBody>
      </p:sp>
      <p:sp>
        <p:nvSpPr>
          <p:cNvPr id="21" name="algorithm-high-body"/>
          <p:cNvSpPr/>
          <p:nvPr/>
        </p:nvSpPr>
        <p:spPr>
          <a:xfrm>
            <a:off x="11620500" y="5422900"/>
            <a:ext cx="3175000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t>Quarantine content and block URL</a:t>
            </a:r>
            <a:endParaRPr lang="en-US" sz="1600" dirty="0"/>
          </a:p>
        </p:txBody>
      </p:sp>
      <p:sp>
        <p:nvSpPr>
          <p:cNvPr id="22" name="algorithm-critical"/>
          <p:cNvSpPr/>
          <p:nvPr/>
        </p:nvSpPr>
        <p:spPr>
          <a:xfrm>
            <a:off x="10134600" y="5994400"/>
            <a:ext cx="5003800" cy="533400"/>
          </a:xfrm>
          <a:prstGeom prst="rect">
            <a:avLst/>
          </a:prstGeom>
          <a:solidFill>
            <a:srgbClr val="0A0F1A"/>
          </a:solidFill>
          <a:ln w="12700">
            <a:solidFill>
              <a:srgbClr val="FFB300"/>
            </a:solidFill>
            <a:prstDash val="solid"/>
          </a:ln>
        </p:spPr>
        <p:txBody>
          <a:bodyPr/>
          <a:p/>
        </p:txBody>
      </p:sp>
      <p:sp>
        <p:nvSpPr>
          <p:cNvPr id="23" name="algorithm-critical-label"/>
          <p:cNvSpPr/>
          <p:nvPr/>
        </p:nvSpPr>
        <p:spPr>
          <a:xfrm>
            <a:off x="10363200" y="6134100"/>
            <a:ext cx="1041400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t>CRITICAL</a:t>
            </a:r>
            <a:endParaRPr lang="en-US" sz="1200" dirty="0"/>
          </a:p>
        </p:txBody>
      </p:sp>
      <p:sp>
        <p:nvSpPr>
          <p:cNvPr id="24" name="algorithm-critical-body"/>
          <p:cNvSpPr/>
          <p:nvPr/>
        </p:nvSpPr>
        <p:spPr>
          <a:xfrm>
            <a:off x="11620500" y="6108700"/>
            <a:ext cx="3175000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t>Open incident; analyst approves action</a:t>
            </a:r>
            <a:endParaRPr lang="en-US" sz="1600" dirty="0"/>
          </a:p>
        </p:txBody>
      </p:sp>
      <p:sp>
        <p:nvSpPr>
          <p:cNvPr id="25" name="algorithm-policy-line"/>
          <p:cNvSpPr/>
          <p:nvPr/>
        </p:nvSpPr>
        <p:spPr>
          <a:xfrm>
            <a:off x="10134600" y="6781800"/>
            <a:ext cx="5003800" cy="9144"/>
          </a:xfrm>
          <a:prstGeom prst="line">
            <a:avLst/>
          </a:prstGeom>
          <a:ln w="12700">
            <a:solidFill>
              <a:srgbClr val="23304C"/>
            </a:solidFill>
            <a:prstDash val="solid"/>
          </a:ln>
        </p:spPr>
        <p:txBody>
          <a:bodyPr/>
          <a:p/>
        </p:txBody>
      </p:sp>
      <p:sp>
        <p:nvSpPr>
          <p:cNvPr id="26" name="algorithm-policy-note"/>
          <p:cNvSpPr/>
          <p:nvPr/>
        </p:nvSpPr>
        <p:spPr>
          <a:xfrm>
            <a:off x="10134600" y="7010400"/>
            <a:ext cx="48895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t>Confidence + business impact influence escalation.</a:t>
            </a:r>
            <a:endParaRPr lang="en-US" sz="1200" dirty="0"/>
          </a:p>
        </p:txBody>
      </p:sp>
      <p:sp>
        <p:nvSpPr>
          <p:cNvPr id="27" name="algorithm-coordinate"/>
          <p:cNvSpPr/>
          <p:nvPr/>
        </p:nvSpPr>
        <p:spPr>
          <a:xfrm>
            <a:off x="762000" y="8636000"/>
            <a:ext cx="31750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t>SEC-08 // ALGORITHM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F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mo-topline"/>
          <p:cNvSpPr/>
          <p:nvPr/>
        </p:nvSpPr>
        <p:spPr>
          <a:xfrm>
            <a:off x="762000" y="584200"/>
            <a:ext cx="14732000" cy="9144"/>
          </a:xfrm>
          <a:prstGeom prst="line">
            <a:avLst/>
          </a:prstGeom>
          <a:ln w="25400">
            <a:solidFill>
              <a:srgbClr val="00E5FF">
                <a:alpha val="8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" name="demo-section"/>
          <p:cNvSpPr/>
          <p:nvPr/>
        </p:nvSpPr>
        <p:spPr>
          <a:xfrm>
            <a:off x="762000" y="914400"/>
            <a:ext cx="4572000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t>08 // LIVE INCIDENT DEMO</a:t>
            </a:r>
            <a:endParaRPr lang="en-US" sz="1300" dirty="0"/>
          </a:p>
        </p:txBody>
      </p:sp>
      <p:sp>
        <p:nvSpPr>
          <p:cNvPr id="4" name="demo-watermark"/>
          <p:cNvSpPr/>
          <p:nvPr/>
        </p:nvSpPr>
        <p:spPr>
          <a:xfrm>
            <a:off x="13335000" y="914400"/>
            <a:ext cx="2159000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r">
              <a:buNone/>
            </a:pPr>
            <a:r>
              <a:t>NEXUS 2026</a:t>
            </a:r>
            <a:endParaRPr lang="en-US" sz="1200" dirty="0"/>
          </a:p>
        </p:txBody>
      </p:sp>
      <p:sp>
        <p:nvSpPr>
          <p:cNvPr id="5" name="demo-title"/>
          <p:cNvSpPr/>
          <p:nvPr/>
        </p:nvSpPr>
        <p:spPr>
          <a:xfrm>
            <a:off x="762000" y="1498600"/>
            <a:ext cx="13208000" cy="685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t>A fake CFO request becomes one clear incident</a:t>
            </a:r>
            <a:endParaRPr lang="en-US" sz="4300" dirty="0"/>
          </a:p>
        </p:txBody>
      </p:sp>
      <p:sp>
        <p:nvSpPr>
          <p:cNvPr id="6" name="demo-subtitle"/>
          <p:cNvSpPr/>
          <p:nvPr/>
        </p:nvSpPr>
        <p:spPr>
          <a:xfrm>
            <a:off x="762000" y="2311400"/>
            <a:ext cx="11938000" cy="317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t>The cross-modal value appears when each clue points to the same impersonation attempt.</a:t>
            </a:r>
            <a:endParaRPr lang="en-US" sz="1800" dirty="0"/>
          </a:p>
        </p:txBody>
      </p:sp>
      <p:sp>
        <p:nvSpPr>
          <p:cNvPr id="7" name="demo-card-one"/>
          <p:cNvSpPr/>
          <p:nvPr/>
        </p:nvSpPr>
        <p:spPr>
          <a:xfrm>
            <a:off x="762000" y="3048000"/>
            <a:ext cx="4318000" cy="3302000"/>
          </a:xfrm>
          <a:prstGeom prst="rect">
            <a:avLst/>
          </a:prstGeom>
          <a:solidFill>
            <a:srgbClr val="141C2F"/>
          </a:solidFill>
          <a:ln w="12700">
            <a:solidFill>
              <a:srgbClr val="FF007F"/>
            </a:solidFill>
            <a:prstDash val="solid"/>
          </a:ln>
        </p:spPr>
        <p:txBody>
          <a:bodyPr/>
          <a:p/>
        </p:txBody>
      </p:sp>
      <p:sp>
        <p:nvSpPr>
          <p:cNvPr id="8" name="demo-card-one-tag"/>
          <p:cNvSpPr/>
          <p:nvPr/>
        </p:nvSpPr>
        <p:spPr>
          <a:xfrm>
            <a:off x="1066800" y="3378200"/>
            <a:ext cx="22860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t>01 // ATTACKER SIGNALS</a:t>
            </a:r>
            <a:endParaRPr lang="en-US" sz="1200" dirty="0"/>
          </a:p>
        </p:txBody>
      </p:sp>
      <p:pic>
        <p:nvPicPr>
          <p:cNvPr id="9" name="demo-card-one-icon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6800" y="3873500"/>
            <a:ext cx="457200" cy="457200"/>
          </a:xfrm>
          <a:prstGeom prst="rect">
            <a:avLst/>
          </a:prstGeom>
        </p:spPr>
      </p:pic>
      <p:sp>
        <p:nvSpPr>
          <p:cNvPr id="10" name="demo-card-one-title"/>
          <p:cNvSpPr/>
          <p:nvPr/>
        </p:nvSpPr>
        <p:spPr>
          <a:xfrm>
            <a:off x="1066800" y="4533900"/>
            <a:ext cx="3175000" cy="330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t>Urgent CFO request</a:t>
            </a:r>
            <a:endParaRPr lang="en-US" sz="2300" dirty="0"/>
          </a:p>
        </p:txBody>
      </p:sp>
      <p:sp>
        <p:nvSpPr>
          <p:cNvPr id="11" name="demo-card-one-body"/>
          <p:cNvSpPr/>
          <p:nvPr/>
        </p:nvSpPr>
        <p:spPr>
          <a:xfrm>
            <a:off x="1066800" y="5041900"/>
            <a:ext cx="3238500" cy="88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006"/>
              </a:lnSpc>
              <a:buNone/>
            </a:pPr>
            <a:r>
              <a:t>CFO-looking email</a:t>
            </a:r>
            <a:endParaRPr lang="en-US" sz="1700" dirty="0"/>
          </a:p>
          <a:p>
            <a:pPr marL="0" indent="0" algn="l">
              <a:lnSpc>
                <a:spcPts val="2006"/>
              </a:lnSpc>
              <a:buNone/>
            </a:pPr>
            <a:r>
              <a:t>Look-alike payment link</a:t>
            </a:r>
            <a:endParaRPr lang="en-US" sz="1700" dirty="0"/>
          </a:p>
          <a:p>
            <a:pPr marL="0" indent="0" algn="l">
              <a:lnSpc>
                <a:spcPts val="2006"/>
              </a:lnSpc>
              <a:buNone/>
            </a:pPr>
            <a:r>
              <a:t>Cloned-sounding voice note</a:t>
            </a:r>
            <a:endParaRPr lang="en-US" sz="1700" dirty="0"/>
          </a:p>
        </p:txBody>
      </p:sp>
      <p:sp>
        <p:nvSpPr>
          <p:cNvPr id="12" name="demo-arrow-one"/>
          <p:cNvSpPr/>
          <p:nvPr/>
        </p:nvSpPr>
        <p:spPr>
          <a:xfrm>
            <a:off x="5207000" y="4699000"/>
            <a:ext cx="736600" cy="9144"/>
          </a:xfrm>
          <a:prstGeom prst="line">
            <a:avLst/>
          </a:prstGeom>
          <a:ln w="12700">
            <a:solidFill>
              <a:srgbClr val="00E5FF"/>
            </a:solidFill>
            <a:prstDash val="solid"/>
          </a:ln>
        </p:spPr>
        <p:txBody>
          <a:bodyPr/>
          <a:p/>
        </p:txBody>
      </p:sp>
      <p:sp>
        <p:nvSpPr>
          <p:cNvPr id="13" name="demo-card-two"/>
          <p:cNvSpPr/>
          <p:nvPr/>
        </p:nvSpPr>
        <p:spPr>
          <a:xfrm>
            <a:off x="6070600" y="3048000"/>
            <a:ext cx="4318000" cy="3302000"/>
          </a:xfrm>
          <a:prstGeom prst="rect">
            <a:avLst/>
          </a:prstGeom>
          <a:solidFill>
            <a:srgbClr val="141C2F"/>
          </a:solidFill>
          <a:ln w="12700">
            <a:solidFill>
              <a:srgbClr val="00E5FF"/>
            </a:solidFill>
            <a:prstDash val="solid"/>
          </a:ln>
        </p:spPr>
        <p:txBody>
          <a:bodyPr/>
          <a:p/>
        </p:txBody>
      </p:sp>
      <p:sp>
        <p:nvSpPr>
          <p:cNvPr id="14" name="demo-card-two-tag"/>
          <p:cNvSpPr/>
          <p:nvPr/>
        </p:nvSpPr>
        <p:spPr>
          <a:xfrm>
            <a:off x="6375400" y="3378200"/>
            <a:ext cx="25400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t>02 // AEGISNEXUS CORRELATION CHECKS</a:t>
            </a:r>
            <a:endParaRPr lang="en-US" sz="1200" dirty="0"/>
          </a:p>
        </p:txBody>
      </p:sp>
      <p:pic>
        <p:nvPicPr>
          <p:cNvPr id="15" name="demo-card-two-icon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75400" y="3873500"/>
            <a:ext cx="457200" cy="457200"/>
          </a:xfrm>
          <a:prstGeom prst="rect">
            <a:avLst/>
          </a:prstGeom>
        </p:spPr>
      </p:pic>
      <p:sp>
        <p:nvSpPr>
          <p:cNvPr id="16" name="demo-card-two-title"/>
          <p:cNvSpPr/>
          <p:nvPr/>
        </p:nvSpPr>
        <p:spPr>
          <a:xfrm>
            <a:off x="6375400" y="4533900"/>
            <a:ext cx="3429000" cy="330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t>Identity mismatch</a:t>
            </a:r>
            <a:endParaRPr lang="en-US" sz="2300" dirty="0"/>
          </a:p>
        </p:txBody>
      </p:sp>
      <p:sp>
        <p:nvSpPr>
          <p:cNvPr id="17" name="demo-card-two-body"/>
          <p:cNvSpPr/>
          <p:nvPr/>
        </p:nvSpPr>
        <p:spPr>
          <a:xfrm>
            <a:off x="6375400" y="5041900"/>
            <a:ext cx="3238500" cy="88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006"/>
              </a:lnSpc>
              <a:buNone/>
            </a:pPr>
            <a:r>
              <a:t>Unapproved channel</a:t>
            </a:r>
            <a:endParaRPr lang="en-US" sz="1700" dirty="0"/>
          </a:p>
          <a:p>
            <a:pPr marL="0" indent="0" algn="l">
              <a:lnSpc>
                <a:spcPts val="2006"/>
              </a:lnSpc>
              <a:buNone/>
            </a:pPr>
            <a:r>
              <a:t>Unusual payment behavior</a:t>
            </a:r>
            <a:endParaRPr lang="en-US" sz="1700" dirty="0"/>
          </a:p>
          <a:p>
            <a:pPr marL="0" indent="0" algn="l">
              <a:lnSpc>
                <a:spcPts val="2006"/>
              </a:lnSpc>
              <a:buNone/>
            </a:pPr>
            <a:r>
              <a:t>Related graph indicators</a:t>
            </a:r>
            <a:endParaRPr lang="en-US" sz="1700" dirty="0"/>
          </a:p>
        </p:txBody>
      </p:sp>
      <p:sp>
        <p:nvSpPr>
          <p:cNvPr id="18" name="demo-arrow-two"/>
          <p:cNvSpPr/>
          <p:nvPr/>
        </p:nvSpPr>
        <p:spPr>
          <a:xfrm>
            <a:off x="10515600" y="4699000"/>
            <a:ext cx="736600" cy="9144"/>
          </a:xfrm>
          <a:prstGeom prst="line">
            <a:avLst/>
          </a:prstGeom>
          <a:ln w="12700">
            <a:solidFill>
              <a:srgbClr val="FFB300"/>
            </a:solidFill>
            <a:prstDash val="solid"/>
          </a:ln>
        </p:spPr>
        <p:txBody>
          <a:bodyPr/>
          <a:p/>
        </p:txBody>
      </p:sp>
      <p:sp>
        <p:nvSpPr>
          <p:cNvPr id="19" name="demo-card-three"/>
          <p:cNvSpPr/>
          <p:nvPr/>
        </p:nvSpPr>
        <p:spPr>
          <a:xfrm>
            <a:off x="11379200" y="3048000"/>
            <a:ext cx="4114800" cy="3302000"/>
          </a:xfrm>
          <a:prstGeom prst="rect">
            <a:avLst/>
          </a:prstGeom>
          <a:solidFill>
            <a:srgbClr val="141C2F"/>
          </a:solidFill>
          <a:ln w="12700">
            <a:solidFill>
              <a:srgbClr val="FFB300"/>
            </a:solidFill>
            <a:prstDash val="solid"/>
          </a:ln>
        </p:spPr>
        <p:txBody>
          <a:bodyPr/>
          <a:p/>
        </p:txBody>
      </p:sp>
      <p:sp>
        <p:nvSpPr>
          <p:cNvPr id="20" name="demo-card-three-tag"/>
          <p:cNvSpPr/>
          <p:nvPr/>
        </p:nvSpPr>
        <p:spPr>
          <a:xfrm>
            <a:off x="11684000" y="3378200"/>
            <a:ext cx="22860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t>03 // RISK DECISION</a:t>
            </a:r>
            <a:endParaRPr lang="en-US" sz="1200" dirty="0"/>
          </a:p>
        </p:txBody>
      </p:sp>
      <p:pic>
        <p:nvPicPr>
          <p:cNvPr id="21" name="demo-card-three-icon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684000" y="3873500"/>
            <a:ext cx="457200" cy="457200"/>
          </a:xfrm>
          <a:prstGeom prst="rect">
            <a:avLst/>
          </a:prstGeom>
        </p:spPr>
      </p:pic>
      <p:sp>
        <p:nvSpPr>
          <p:cNvPr id="22" name="demo-card-three-title"/>
          <p:cNvSpPr/>
          <p:nvPr/>
        </p:nvSpPr>
        <p:spPr>
          <a:xfrm>
            <a:off x="11684000" y="4533900"/>
            <a:ext cx="3175000" cy="330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t>High-risk incident</a:t>
            </a:r>
            <a:endParaRPr lang="en-US" sz="2300" dirty="0"/>
          </a:p>
        </p:txBody>
      </p:sp>
      <p:sp>
        <p:nvSpPr>
          <p:cNvPr id="23" name="demo-card-three-body"/>
          <p:cNvSpPr/>
          <p:nvPr/>
        </p:nvSpPr>
        <p:spPr>
          <a:xfrm>
            <a:off x="11684000" y="5041900"/>
            <a:ext cx="3175000" cy="88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006"/>
              </a:lnSpc>
              <a:buNone/>
            </a:pPr>
            <a:r>
              <a:t>Quarantine message</a:t>
            </a:r>
            <a:endParaRPr lang="en-US" sz="1700" dirty="0"/>
          </a:p>
          <a:p>
            <a:pPr marL="0" indent="0" algn="l">
              <a:lnSpc>
                <a:spcPts val="2006"/>
              </a:lnSpc>
              <a:buNone/>
            </a:pPr>
            <a:r>
              <a:t>Block URL</a:t>
            </a:r>
            <a:endParaRPr lang="en-US" sz="1700" dirty="0"/>
          </a:p>
          <a:p>
            <a:pPr marL="0" indent="0" algn="l">
              <a:lnSpc>
                <a:spcPts val="2006"/>
              </a:lnSpc>
              <a:buNone/>
            </a:pPr>
            <a:r>
              <a:t>Notify analyst for approval</a:t>
            </a:r>
            <a:endParaRPr lang="en-US" sz="1700" dirty="0"/>
          </a:p>
        </p:txBody>
      </p:sp>
      <p:sp>
        <p:nvSpPr>
          <p:cNvPr id="24" name="demo-incident-strip"/>
          <p:cNvSpPr/>
          <p:nvPr/>
        </p:nvSpPr>
        <p:spPr>
          <a:xfrm>
            <a:off x="2032000" y="6858000"/>
            <a:ext cx="12192000" cy="965200"/>
          </a:xfrm>
          <a:prstGeom prst="rect">
            <a:avLst/>
          </a:prstGeom>
          <a:solidFill>
            <a:srgbClr val="141C2F">
              <a:alpha val="90000"/>
            </a:srgbClr>
          </a:solidFill>
          <a:ln w="12700">
            <a:solidFill>
              <a:srgbClr val="FFB300"/>
            </a:solidFill>
            <a:prstDash val="solid"/>
          </a:ln>
        </p:spPr>
        <p:txBody>
          <a:bodyPr/>
          <a:p/>
        </p:txBody>
      </p:sp>
      <p:sp>
        <p:nvSpPr>
          <p:cNvPr id="25" name="demo-incident-label"/>
          <p:cNvSpPr/>
          <p:nvPr/>
        </p:nvSpPr>
        <p:spPr>
          <a:xfrm>
            <a:off x="2413000" y="7035800"/>
            <a:ext cx="9144000" cy="2413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t>EXPECTED DASHBOARD OUTPUT</a:t>
            </a:r>
            <a:endParaRPr lang="en-US" sz="1200" dirty="0"/>
          </a:p>
        </p:txBody>
      </p:sp>
      <p:sp>
        <p:nvSpPr>
          <p:cNvPr id="26" name="demo-incident-title"/>
          <p:cNvSpPr/>
          <p:nvPr/>
        </p:nvSpPr>
        <p:spPr>
          <a:xfrm>
            <a:off x="2413000" y="7366000"/>
            <a:ext cx="8128000" cy="304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t>CRITICAL RISK (95/100) — CFO Impersonation</a:t>
            </a:r>
            <a:endParaRPr lang="en-US" sz="2100" dirty="0"/>
          </a:p>
        </p:txBody>
      </p:sp>
      <p:sp>
        <p:nvSpPr>
          <p:cNvPr id="27" name="demo-incident-evidence"/>
          <p:cNvSpPr/>
          <p:nvPr/>
        </p:nvSpPr>
        <p:spPr>
          <a:xfrm>
            <a:off x="10922000" y="7366000"/>
            <a:ext cx="2857500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r">
              <a:buNone/>
            </a:pPr>
            <a:r>
              <a:t>5 Correlated Signals • ,500 Target • 94% Confidence</a:t>
            </a:r>
            <a:endParaRPr lang="en-US" sz="1200" dirty="0"/>
          </a:p>
        </p:txBody>
      </p:sp>
      <p:sp>
        <p:nvSpPr>
          <p:cNvPr id="28" name="demo-coordinate"/>
          <p:cNvSpPr/>
          <p:nvPr/>
        </p:nvSpPr>
        <p:spPr>
          <a:xfrm>
            <a:off x="762000" y="8636000"/>
            <a:ext cx="31750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t>SEC-09 // DEMO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F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afety-topline"/>
          <p:cNvSpPr/>
          <p:nvPr/>
        </p:nvSpPr>
        <p:spPr>
          <a:xfrm>
            <a:off x="762000" y="584200"/>
            <a:ext cx="14732000" cy="9144"/>
          </a:xfrm>
          <a:prstGeom prst="line">
            <a:avLst/>
          </a:prstGeom>
          <a:ln w="25400">
            <a:solidFill>
              <a:srgbClr val="00E5FF">
                <a:alpha val="8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" name="safety-section"/>
          <p:cNvSpPr/>
          <p:nvPr/>
        </p:nvSpPr>
        <p:spPr>
          <a:xfrm>
            <a:off x="762000" y="914400"/>
            <a:ext cx="7874000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t>MANDATORY 06 // ASSUMPTIONS + CHALLENGES + QUERIES</a:t>
            </a:r>
            <a:endParaRPr lang="en-US" sz="1300" dirty="0"/>
          </a:p>
        </p:txBody>
      </p:sp>
      <p:sp>
        <p:nvSpPr>
          <p:cNvPr id="4" name="safety-watermark"/>
          <p:cNvSpPr/>
          <p:nvPr/>
        </p:nvSpPr>
        <p:spPr>
          <a:xfrm>
            <a:off x="13335000" y="914400"/>
            <a:ext cx="2159000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r">
              <a:buNone/>
            </a:pPr>
            <a:r>
              <a:t>NEXUS 2026</a:t>
            </a:r>
            <a:endParaRPr lang="en-US" sz="1200" dirty="0"/>
          </a:p>
        </p:txBody>
      </p:sp>
      <p:sp>
        <p:nvSpPr>
          <p:cNvPr id="5" name="safety-title"/>
          <p:cNvSpPr/>
          <p:nvPr/>
        </p:nvSpPr>
        <p:spPr>
          <a:xfrm>
            <a:off x="762000" y="1498600"/>
            <a:ext cx="12700000" cy="685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t>Ambitious by design. Responsible by default.</a:t>
            </a:r>
            <a:endParaRPr lang="en-US" sz="4300" dirty="0"/>
          </a:p>
        </p:txBody>
      </p:sp>
      <p:sp>
        <p:nvSpPr>
          <p:cNvPr id="6" name="safety-subtitle"/>
          <p:cNvSpPr/>
          <p:nvPr/>
        </p:nvSpPr>
        <p:spPr>
          <a:xfrm>
            <a:off x="762000" y="2311400"/>
            <a:ext cx="12700000" cy="304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t>A credible prototype declares its boundaries, risks, safeguards, and open questions clearly.</a:t>
            </a:r>
            <a:endParaRPr lang="en-US" sz="1800" dirty="0"/>
          </a:p>
        </p:txBody>
      </p:sp>
      <p:sp>
        <p:nvSpPr>
          <p:cNvPr id="7" name="safety-assumptions-panel"/>
          <p:cNvSpPr/>
          <p:nvPr/>
        </p:nvSpPr>
        <p:spPr>
          <a:xfrm>
            <a:off x="762000" y="3098800"/>
            <a:ext cx="5905500" cy="3886200"/>
          </a:xfrm>
          <a:prstGeom prst="rect">
            <a:avLst/>
          </a:prstGeom>
          <a:solidFill>
            <a:srgbClr val="141C2F"/>
          </a:solidFill>
          <a:ln w="12700">
            <a:solidFill>
              <a:srgbClr val="00E5FF"/>
            </a:solidFill>
            <a:prstDash val="solid"/>
          </a:ln>
        </p:spPr>
        <p:txBody>
          <a:bodyPr/>
          <a:p/>
        </p:txBody>
      </p:sp>
      <p:sp>
        <p:nvSpPr>
          <p:cNvPr id="8" name="safety-assumptions-label"/>
          <p:cNvSpPr/>
          <p:nvPr/>
        </p:nvSpPr>
        <p:spPr>
          <a:xfrm>
            <a:off x="1092200" y="3429000"/>
            <a:ext cx="38100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t>PROTOTYPE ASSUMPTIONS</a:t>
            </a:r>
            <a:endParaRPr lang="en-US" sz="1300" dirty="0"/>
          </a:p>
        </p:txBody>
      </p:sp>
      <p:pic>
        <p:nvPicPr>
          <p:cNvPr id="9" name="safety-assumption-one-icon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2200" y="4038600"/>
            <a:ext cx="355600" cy="355600"/>
          </a:xfrm>
          <a:prstGeom prst="rect">
            <a:avLst/>
          </a:prstGeom>
        </p:spPr>
      </p:pic>
      <p:sp>
        <p:nvSpPr>
          <p:cNvPr id="10" name="safety-assumption-one"/>
          <p:cNvSpPr/>
          <p:nvPr/>
        </p:nvSpPr>
        <p:spPr>
          <a:xfrm>
            <a:off x="1727200" y="3975100"/>
            <a:ext cx="4318000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t>Simulated or uploaded test events are used instead of live corporate data.</a:t>
            </a:r>
            <a:endParaRPr lang="en-US" sz="1700" dirty="0"/>
          </a:p>
        </p:txBody>
      </p:sp>
      <p:pic>
        <p:nvPicPr>
          <p:cNvPr id="11" name="safety-assumption-two-icon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92200" y="4953000"/>
            <a:ext cx="355600" cy="355600"/>
          </a:xfrm>
          <a:prstGeom prst="rect">
            <a:avLst/>
          </a:prstGeom>
        </p:spPr>
      </p:pic>
      <p:sp>
        <p:nvSpPr>
          <p:cNvPr id="12" name="safety-assumption-two"/>
          <p:cNvSpPr/>
          <p:nvPr/>
        </p:nvSpPr>
        <p:spPr>
          <a:xfrm>
            <a:off x="1727200" y="4889500"/>
            <a:ext cx="4318000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t>Pre-trained models and rules are used; no large model is trained from scratch.</a:t>
            </a:r>
            <a:endParaRPr lang="en-US" sz="1700" dirty="0"/>
          </a:p>
        </p:txBody>
      </p:sp>
      <p:pic>
        <p:nvPicPr>
          <p:cNvPr id="13" name="safety-assumption-three-icon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92200" y="5867400"/>
            <a:ext cx="355600" cy="355600"/>
          </a:xfrm>
          <a:prstGeom prst="rect">
            <a:avLst/>
          </a:prstGeom>
        </p:spPr>
      </p:pic>
      <p:sp>
        <p:nvSpPr>
          <p:cNvPr id="14" name="safety-assumption-three"/>
          <p:cNvSpPr/>
          <p:nvPr/>
        </p:nvSpPr>
        <p:spPr>
          <a:xfrm>
            <a:off x="1727200" y="5803900"/>
            <a:ext cx="4318000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t>Not every event includes text, audio, video, identity, and network signals.</a:t>
            </a:r>
            <a:endParaRPr lang="en-US" sz="1700" dirty="0"/>
          </a:p>
        </p:txBody>
      </p:sp>
      <p:sp>
        <p:nvSpPr>
          <p:cNvPr id="15" name="safety-challenges-panel"/>
          <p:cNvSpPr/>
          <p:nvPr/>
        </p:nvSpPr>
        <p:spPr>
          <a:xfrm>
            <a:off x="7048500" y="3098800"/>
            <a:ext cx="8445500" cy="3886200"/>
          </a:xfrm>
          <a:prstGeom prst="rect">
            <a:avLst/>
          </a:prstGeom>
          <a:solidFill>
            <a:srgbClr val="141C2F"/>
          </a:solidFill>
          <a:ln w="12700">
            <a:solidFill>
              <a:srgbClr val="23304C"/>
            </a:solidFill>
            <a:prstDash val="solid"/>
          </a:ln>
        </p:spPr>
        <p:txBody>
          <a:bodyPr/>
          <a:p/>
        </p:txBody>
      </p:sp>
      <p:sp>
        <p:nvSpPr>
          <p:cNvPr id="16" name="safety-challenges-label"/>
          <p:cNvSpPr/>
          <p:nvPr/>
        </p:nvSpPr>
        <p:spPr>
          <a:xfrm>
            <a:off x="7404100" y="3429000"/>
            <a:ext cx="54610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t>CHALLENGE → MITIGATION</a:t>
            </a:r>
            <a:endParaRPr lang="en-US" sz="1300" dirty="0"/>
          </a:p>
        </p:txBody>
      </p:sp>
      <p:sp>
        <p:nvSpPr>
          <p:cNvPr id="17" name="safety-challenge-one-title"/>
          <p:cNvSpPr/>
          <p:nvPr/>
        </p:nvSpPr>
        <p:spPr>
          <a:xfrm>
            <a:off x="7404100" y="4051300"/>
            <a:ext cx="2413000" cy="2667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t>False alerts</a:t>
            </a:r>
            <a:endParaRPr lang="en-US" sz="1900" dirty="0"/>
          </a:p>
        </p:txBody>
      </p:sp>
      <p:sp>
        <p:nvSpPr>
          <p:cNvPr id="18" name="safety-challenge-one-body"/>
          <p:cNvSpPr/>
          <p:nvPr/>
        </p:nvSpPr>
        <p:spPr>
          <a:xfrm>
            <a:off x="10096500" y="4051300"/>
            <a:ext cx="4953000" cy="2667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t>Risk bands, confidence, evidence, thresholds, analyst review.</a:t>
            </a:r>
            <a:endParaRPr lang="en-US" sz="1600" dirty="0"/>
          </a:p>
        </p:txBody>
      </p:sp>
      <p:sp>
        <p:nvSpPr>
          <p:cNvPr id="19" name="safety-challenge-line-one"/>
          <p:cNvSpPr/>
          <p:nvPr/>
        </p:nvSpPr>
        <p:spPr>
          <a:xfrm>
            <a:off x="7404100" y="4508500"/>
            <a:ext cx="7645400" cy="9144"/>
          </a:xfrm>
          <a:prstGeom prst="line">
            <a:avLst/>
          </a:prstGeom>
          <a:ln w="12700">
            <a:solidFill>
              <a:srgbClr val="23304C"/>
            </a:solidFill>
            <a:prstDash val="solid"/>
          </a:ln>
        </p:spPr>
        <p:txBody>
          <a:bodyPr/>
          <a:p/>
        </p:txBody>
      </p:sp>
      <p:sp>
        <p:nvSpPr>
          <p:cNvPr id="20" name="safety-challenge-two-title"/>
          <p:cNvSpPr/>
          <p:nvPr/>
        </p:nvSpPr>
        <p:spPr>
          <a:xfrm>
            <a:off x="7404100" y="4864100"/>
            <a:ext cx="2413000" cy="2667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t>Privacy + biometrics</a:t>
            </a:r>
            <a:endParaRPr lang="en-US" sz="1900" dirty="0"/>
          </a:p>
        </p:txBody>
      </p:sp>
      <p:sp>
        <p:nvSpPr>
          <p:cNvPr id="21" name="safety-challenge-two-body"/>
          <p:cNvSpPr/>
          <p:nvPr/>
        </p:nvSpPr>
        <p:spPr>
          <a:xfrm>
            <a:off x="10096500" y="4864100"/>
            <a:ext cx="4953000" cy="2667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t>Consent-based samples, minimal storage, restricted access.</a:t>
            </a:r>
            <a:endParaRPr lang="en-US" sz="1600" dirty="0"/>
          </a:p>
        </p:txBody>
      </p:sp>
      <p:sp>
        <p:nvSpPr>
          <p:cNvPr id="22" name="safety-challenge-line-two"/>
          <p:cNvSpPr/>
          <p:nvPr/>
        </p:nvSpPr>
        <p:spPr>
          <a:xfrm>
            <a:off x="7404100" y="5321300"/>
            <a:ext cx="7645400" cy="9144"/>
          </a:xfrm>
          <a:prstGeom prst="line">
            <a:avLst/>
          </a:prstGeom>
          <a:ln w="12700">
            <a:solidFill>
              <a:srgbClr val="23304C"/>
            </a:solidFill>
            <a:prstDash val="solid"/>
          </a:ln>
        </p:spPr>
        <p:txBody>
          <a:bodyPr/>
          <a:p/>
        </p:txBody>
      </p:sp>
      <p:sp>
        <p:nvSpPr>
          <p:cNvPr id="23" name="safety-challenge-three-title"/>
          <p:cNvSpPr/>
          <p:nvPr/>
        </p:nvSpPr>
        <p:spPr>
          <a:xfrm>
            <a:off x="7404100" y="5676900"/>
            <a:ext cx="2413000" cy="2667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t>Latency + scope</a:t>
            </a:r>
            <a:endParaRPr lang="en-US" sz="1900" dirty="0"/>
          </a:p>
        </p:txBody>
      </p:sp>
      <p:sp>
        <p:nvSpPr>
          <p:cNvPr id="24" name="safety-challenge-three-body"/>
          <p:cNvSpPr/>
          <p:nvPr/>
        </p:nvSpPr>
        <p:spPr>
          <a:xfrm>
            <a:off x="10096500" y="5676900"/>
            <a:ext cx="49530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t>Lightweight checks first; deeper checks run in parallel; critical actions need analyst approval.</a:t>
            </a:r>
            <a:endParaRPr lang="en-US" sz="1600" dirty="0"/>
          </a:p>
        </p:txBody>
      </p:sp>
      <p:sp>
        <p:nvSpPr>
          <p:cNvPr id="25" name="safety-queries-strip"/>
          <p:cNvSpPr/>
          <p:nvPr/>
        </p:nvSpPr>
        <p:spPr>
          <a:xfrm>
            <a:off x="2159000" y="7340600"/>
            <a:ext cx="11938000" cy="762000"/>
          </a:xfrm>
          <a:prstGeom prst="rect">
            <a:avLst/>
          </a:prstGeom>
          <a:solidFill>
            <a:srgbClr val="141C2F">
              <a:alpha val="80000"/>
            </a:srgbClr>
          </a:solidFill>
          <a:ln w="12700">
            <a:solidFill>
              <a:srgbClr val="FFB300"/>
            </a:solidFill>
            <a:prstDash val="solid"/>
          </a:ln>
        </p:spPr>
        <p:txBody>
          <a:bodyPr/>
          <a:p/>
        </p:txBody>
      </p:sp>
      <p:sp>
        <p:nvSpPr>
          <p:cNvPr id="26" name="safety-queries-label"/>
          <p:cNvSpPr/>
          <p:nvPr/>
        </p:nvSpPr>
        <p:spPr>
          <a:xfrm>
            <a:off x="2514600" y="7518400"/>
            <a:ext cx="21590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t>OPEN QUERIES</a:t>
            </a:r>
            <a:endParaRPr lang="en-US" sz="1200" dirty="0"/>
          </a:p>
        </p:txBody>
      </p:sp>
      <p:sp>
        <p:nvSpPr>
          <p:cNvPr id="27" name="safety-queries-text"/>
          <p:cNvSpPr/>
          <p:nvPr/>
        </p:nvSpPr>
        <p:spPr>
          <a:xfrm>
            <a:off x="2514600" y="7823200"/>
            <a:ext cx="11112500" cy="2159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buNone/>
            </a:pPr>
            <a:r>
              <a:t>Are simulated data and pre-trained models acceptable? Which evaluation criterion matters most: accuracy, workflow, UX, or response?</a:t>
            </a:r>
            <a:endParaRPr lang="en-US" sz="1500" dirty="0"/>
          </a:p>
        </p:txBody>
      </p:sp>
      <p:sp>
        <p:nvSpPr>
          <p:cNvPr id="28" name="safety-coordinate"/>
          <p:cNvSpPr/>
          <p:nvPr/>
        </p:nvSpPr>
        <p:spPr>
          <a:xfrm>
            <a:off x="762000" y="8636000"/>
            <a:ext cx="31750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t>SEC-10 // SAFETY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A0F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utcomes-topline"/>
          <p:cNvSpPr/>
          <p:nvPr/>
        </p:nvSpPr>
        <p:spPr>
          <a:xfrm>
            <a:off x="762000" y="584200"/>
            <a:ext cx="14732000" cy="9144"/>
          </a:xfrm>
          <a:prstGeom prst="line">
            <a:avLst/>
          </a:prstGeom>
          <a:ln w="25400">
            <a:solidFill>
              <a:srgbClr val="00E5FF">
                <a:alpha val="8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" name="outcomes-section"/>
          <p:cNvSpPr/>
          <p:nvPr/>
        </p:nvSpPr>
        <p:spPr>
          <a:xfrm>
            <a:off x="762000" y="914400"/>
            <a:ext cx="4572000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t>10 // EXPECTED OUTCOME</a:t>
            </a:r>
            <a:endParaRPr lang="en-US" sz="1300" dirty="0"/>
          </a:p>
        </p:txBody>
      </p:sp>
      <p:sp>
        <p:nvSpPr>
          <p:cNvPr id="4" name="outcomes-watermark"/>
          <p:cNvSpPr/>
          <p:nvPr/>
        </p:nvSpPr>
        <p:spPr>
          <a:xfrm>
            <a:off x="13335000" y="914400"/>
            <a:ext cx="2159000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r">
              <a:buNone/>
            </a:pPr>
            <a:r>
              <a:t>NEXUS 2026</a:t>
            </a:r>
            <a:endParaRPr lang="en-US" sz="1200" dirty="0"/>
          </a:p>
        </p:txBody>
      </p:sp>
      <p:sp>
        <p:nvSpPr>
          <p:cNvPr id="5" name="outcomes-title"/>
          <p:cNvSpPr/>
          <p:nvPr/>
        </p:nvSpPr>
        <p:spPr>
          <a:xfrm>
            <a:off x="762000" y="1498600"/>
            <a:ext cx="10922000" cy="685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t>The outcome: earlier, clearer, safer decisions</a:t>
            </a:r>
            <a:endParaRPr lang="en-US" sz="4400" dirty="0"/>
          </a:p>
        </p:txBody>
      </p:sp>
      <p:sp>
        <p:nvSpPr>
          <p:cNvPr id="6" name="outcomes-subtitle"/>
          <p:cNvSpPr/>
          <p:nvPr/>
        </p:nvSpPr>
        <p:spPr>
          <a:xfrm>
            <a:off x="762000" y="2336800"/>
            <a:ext cx="12700000" cy="317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t>AegisNexus turns isolated indicators into action-ready intelligence for people and security teams.</a:t>
            </a:r>
            <a:endParaRPr lang="en-US" sz="1800" dirty="0"/>
          </a:p>
        </p:txBody>
      </p:sp>
      <p:sp>
        <p:nvSpPr>
          <p:cNvPr id="7" name="outcomes-card-one"/>
          <p:cNvSpPr/>
          <p:nvPr/>
        </p:nvSpPr>
        <p:spPr>
          <a:xfrm>
            <a:off x="762000" y="3175000"/>
            <a:ext cx="4318000" cy="1905000"/>
          </a:xfrm>
          <a:prstGeom prst="rect">
            <a:avLst/>
          </a:prstGeom>
          <a:solidFill>
            <a:srgbClr val="141C2F"/>
          </a:solidFill>
          <a:ln w="12700">
            <a:solidFill>
              <a:srgbClr val="23304C"/>
            </a:solidFill>
            <a:prstDash val="solid"/>
          </a:ln>
        </p:spPr>
        <p:txBody>
          <a:bodyPr/>
          <a:p/>
        </p:txBody>
      </p:sp>
      <p:pic>
        <p:nvPicPr>
          <p:cNvPr id="8" name="outcomes-icon-one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6800" y="3492500"/>
            <a:ext cx="406400" cy="406400"/>
          </a:xfrm>
          <a:prstGeom prst="rect">
            <a:avLst/>
          </a:prstGeom>
        </p:spPr>
      </p:pic>
      <p:sp>
        <p:nvSpPr>
          <p:cNvPr id="9" name="outcomes-title-one"/>
          <p:cNvSpPr/>
          <p:nvPr/>
        </p:nvSpPr>
        <p:spPr>
          <a:xfrm>
            <a:off x="1066800" y="4152900"/>
            <a:ext cx="3048000" cy="304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t>85% Faster Investigation: Flags multi-channel BEC before wire release.</a:t>
            </a:r>
            <a:endParaRPr lang="en-US" sz="2200" dirty="0"/>
          </a:p>
        </p:txBody>
      </p:sp>
      <p:sp>
        <p:nvSpPr>
          <p:cNvPr id="10" name="outcomes-body-one"/>
          <p:cNvSpPr/>
          <p:nvPr/>
        </p:nvSpPr>
        <p:spPr>
          <a:xfrm>
            <a:off x="1066800" y="4559300"/>
            <a:ext cx="317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t>Flag suspicious activity before a risky action completes.</a:t>
            </a:r>
            <a:endParaRPr lang="en-US" sz="1600" dirty="0"/>
          </a:p>
        </p:txBody>
      </p:sp>
      <p:sp>
        <p:nvSpPr>
          <p:cNvPr id="11" name="outcomes-card-two"/>
          <p:cNvSpPr/>
          <p:nvPr/>
        </p:nvSpPr>
        <p:spPr>
          <a:xfrm>
            <a:off x="5715000" y="3175000"/>
            <a:ext cx="4318000" cy="1905000"/>
          </a:xfrm>
          <a:prstGeom prst="rect">
            <a:avLst/>
          </a:prstGeom>
          <a:solidFill>
            <a:srgbClr val="141C2F"/>
          </a:solidFill>
          <a:ln w="12700">
            <a:solidFill>
              <a:srgbClr val="23304C"/>
            </a:solidFill>
            <a:prstDash val="solid"/>
          </a:ln>
        </p:spPr>
        <p:txBody>
          <a:bodyPr/>
          <a:p/>
        </p:txBody>
      </p:sp>
      <p:pic>
        <p:nvPicPr>
          <p:cNvPr id="12" name="outcomes-icon-two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19800" y="3492500"/>
            <a:ext cx="406400" cy="406400"/>
          </a:xfrm>
          <a:prstGeom prst="rect">
            <a:avLst/>
          </a:prstGeom>
        </p:spPr>
      </p:pic>
      <p:sp>
        <p:nvSpPr>
          <p:cNvPr id="13" name="outcomes-title-two"/>
          <p:cNvSpPr/>
          <p:nvPr/>
        </p:nvSpPr>
        <p:spPr>
          <a:xfrm>
            <a:off x="6019800" y="4152900"/>
            <a:ext cx="3175000" cy="304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t>Cross-Modal Confidence: Correlates 5 modalities instead of siloed alerts.</a:t>
            </a:r>
            <a:endParaRPr lang="en-US" sz="2200" dirty="0"/>
          </a:p>
        </p:txBody>
      </p:sp>
      <p:sp>
        <p:nvSpPr>
          <p:cNvPr id="14" name="outcomes-body-two"/>
          <p:cNvSpPr/>
          <p:nvPr/>
        </p:nvSpPr>
        <p:spPr>
          <a:xfrm>
            <a:off x="6019800" y="4559300"/>
            <a:ext cx="317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t>Combine evidence sources instead of trusting one clue.</a:t>
            </a:r>
            <a:endParaRPr lang="en-US" sz="1600" dirty="0"/>
          </a:p>
        </p:txBody>
      </p:sp>
      <p:sp>
        <p:nvSpPr>
          <p:cNvPr id="15" name="outcomes-card-three"/>
          <p:cNvSpPr/>
          <p:nvPr/>
        </p:nvSpPr>
        <p:spPr>
          <a:xfrm>
            <a:off x="10668000" y="3175000"/>
            <a:ext cx="4318000" cy="1905000"/>
          </a:xfrm>
          <a:prstGeom prst="rect">
            <a:avLst/>
          </a:prstGeom>
          <a:solidFill>
            <a:srgbClr val="141C2F"/>
          </a:solidFill>
          <a:ln w="12700">
            <a:solidFill>
              <a:srgbClr val="23304C"/>
            </a:solidFill>
            <a:prstDash val="solid"/>
          </a:ln>
        </p:spPr>
        <p:txBody>
          <a:bodyPr/>
          <a:p/>
        </p:txBody>
      </p:sp>
      <p:pic>
        <p:nvPicPr>
          <p:cNvPr id="16" name="outcomes-icon-three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972800" y="3492500"/>
            <a:ext cx="406400" cy="406400"/>
          </a:xfrm>
          <a:prstGeom prst="rect">
            <a:avLst/>
          </a:prstGeom>
        </p:spPr>
      </p:pic>
      <p:sp>
        <p:nvSpPr>
          <p:cNvPr id="17" name="outcomes-title-three"/>
          <p:cNvSpPr/>
          <p:nvPr/>
        </p:nvSpPr>
        <p:spPr>
          <a:xfrm>
            <a:off x="10972800" y="4152900"/>
            <a:ext cx="3175000" cy="304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t>Topological Memory: Maps infrastructure, ASN, and identity anomalies.</a:t>
            </a:r>
            <a:endParaRPr lang="en-US" sz="2200" dirty="0"/>
          </a:p>
        </p:txBody>
      </p:sp>
      <p:sp>
        <p:nvSpPr>
          <p:cNvPr id="18" name="outcomes-body-three"/>
          <p:cNvSpPr/>
          <p:nvPr/>
        </p:nvSpPr>
        <p:spPr>
          <a:xfrm>
            <a:off x="10972800" y="4559300"/>
            <a:ext cx="317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t>Transform related indicators into one incident view.</a:t>
            </a:r>
            <a:endParaRPr lang="en-US" sz="1600" dirty="0"/>
          </a:p>
        </p:txBody>
      </p:sp>
      <p:sp>
        <p:nvSpPr>
          <p:cNvPr id="19" name="outcomes-card-four"/>
          <p:cNvSpPr/>
          <p:nvPr/>
        </p:nvSpPr>
        <p:spPr>
          <a:xfrm>
            <a:off x="3238500" y="5765800"/>
            <a:ext cx="4699000" cy="1905000"/>
          </a:xfrm>
          <a:prstGeom prst="rect">
            <a:avLst/>
          </a:prstGeom>
          <a:solidFill>
            <a:srgbClr val="141C2F"/>
          </a:solidFill>
          <a:ln w="12700">
            <a:solidFill>
              <a:srgbClr val="23304C"/>
            </a:solidFill>
            <a:prstDash val="solid"/>
          </a:ln>
        </p:spPr>
        <p:txBody>
          <a:bodyPr/>
          <a:p/>
        </p:txBody>
      </p:sp>
      <p:pic>
        <p:nvPicPr>
          <p:cNvPr id="20" name="outcomes-icon-four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543300" y="6083300"/>
            <a:ext cx="406400" cy="406400"/>
          </a:xfrm>
          <a:prstGeom prst="rect">
            <a:avLst/>
          </a:prstGeom>
        </p:spPr>
      </p:pic>
      <p:sp>
        <p:nvSpPr>
          <p:cNvPr id="21" name="outcomes-title-four"/>
          <p:cNvSpPr/>
          <p:nvPr/>
        </p:nvSpPr>
        <p:spPr>
          <a:xfrm>
            <a:off x="3543300" y="6743700"/>
            <a:ext cx="3683000" cy="304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t>Explainable Verdict: Transparent 0–100 risk score with zero hallucinations.</a:t>
            </a:r>
            <a:endParaRPr lang="en-US" sz="2200" dirty="0"/>
          </a:p>
        </p:txBody>
      </p:sp>
      <p:sp>
        <p:nvSpPr>
          <p:cNvPr id="22" name="outcomes-body-four"/>
          <p:cNvSpPr/>
          <p:nvPr/>
        </p:nvSpPr>
        <p:spPr>
          <a:xfrm>
            <a:off x="3543300" y="7150100"/>
            <a:ext cx="3683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t>Show score, evidence, graph, and recommended response.</a:t>
            </a:r>
            <a:endParaRPr lang="en-US" sz="1600" dirty="0"/>
          </a:p>
        </p:txBody>
      </p:sp>
      <p:sp>
        <p:nvSpPr>
          <p:cNvPr id="23" name="outcomes-card-five"/>
          <p:cNvSpPr/>
          <p:nvPr/>
        </p:nvSpPr>
        <p:spPr>
          <a:xfrm>
            <a:off x="8699500" y="5765800"/>
            <a:ext cx="4699000" cy="1905000"/>
          </a:xfrm>
          <a:prstGeom prst="rect">
            <a:avLst/>
          </a:prstGeom>
          <a:solidFill>
            <a:srgbClr val="141C2F"/>
          </a:solidFill>
          <a:ln w="12700">
            <a:solidFill>
              <a:srgbClr val="FFB300"/>
            </a:solidFill>
            <a:prstDash val="solid"/>
          </a:ln>
        </p:spPr>
        <p:txBody>
          <a:bodyPr/>
          <a:p/>
        </p:txBody>
      </p:sp>
      <p:pic>
        <p:nvPicPr>
          <p:cNvPr id="24" name="outcomes-icon-five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004300" y="6083300"/>
            <a:ext cx="406400" cy="406400"/>
          </a:xfrm>
          <a:prstGeom prst="rect">
            <a:avLst/>
          </a:prstGeom>
        </p:spPr>
      </p:pic>
      <p:sp>
        <p:nvSpPr>
          <p:cNvPr id="25" name="outcomes-title-five"/>
          <p:cNvSpPr/>
          <p:nvPr/>
        </p:nvSpPr>
        <p:spPr>
          <a:xfrm>
            <a:off x="9004300" y="6743700"/>
            <a:ext cx="3683000" cy="304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t>Human-in-the-Loop Gate: Mitigates risk while preserving executive control.</a:t>
            </a:r>
            <a:endParaRPr lang="en-US" sz="2200" dirty="0"/>
          </a:p>
        </p:txBody>
      </p:sp>
      <p:sp>
        <p:nvSpPr>
          <p:cNvPr id="26" name="outcomes-body-five"/>
          <p:cNvSpPr/>
          <p:nvPr/>
        </p:nvSpPr>
        <p:spPr>
          <a:xfrm>
            <a:off x="9004300" y="7150100"/>
            <a:ext cx="3683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t>Contain risk while preserving human control.</a:t>
            </a:r>
            <a:endParaRPr lang="en-US" sz="1600" dirty="0"/>
          </a:p>
        </p:txBody>
      </p:sp>
      <p:sp>
        <p:nvSpPr>
          <p:cNvPr id="27" name="outcomes-coordinate"/>
          <p:cNvSpPr/>
          <p:nvPr/>
        </p:nvSpPr>
        <p:spPr>
          <a:xfrm>
            <a:off x="762000" y="8636000"/>
            <a:ext cx="31750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t>SEC-11 // OUTCOMES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ackground-image" descr="preencoded.png"/>
          <p:cNvPicPr>
            <a:picLocks noChangeAspect="1"/>
          </p:cNvPicPr>
          <p:nvPr/>
        </p:nvPicPr>
        <p:blipFill>
          <a:blip r:embed="rId3"/>
          <a:srcRect t="28" b="28"/>
          <a:stretch/>
        </p:blipFill>
        <p:spPr>
          <a:xfrm>
            <a:off x="0" y="0"/>
            <a:ext cx="16256000" cy="9144000"/>
          </a:xfrm>
          <a:prstGeom prst="rect">
            <a:avLst/>
          </a:prstGeom>
        </p:spPr>
      </p:pic>
      <p:sp>
        <p:nvSpPr>
          <p:cNvPr id="3" name="background-mask"/>
          <p:cNvSpPr/>
          <p:nvPr/>
        </p:nvSpPr>
        <p:spPr>
          <a:xfrm>
            <a:off x="0" y="0"/>
            <a:ext cx="16256000" cy="9144000"/>
          </a:xfrm>
          <a:prstGeom prst="rect">
            <a:avLst/>
          </a:prstGeom>
          <a:solidFill>
            <a:srgbClr val="06101D">
              <a:alpha val="88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4" name="closing-topline"/>
          <p:cNvSpPr/>
          <p:nvPr/>
        </p:nvSpPr>
        <p:spPr>
          <a:xfrm>
            <a:off x="762000" y="584200"/>
            <a:ext cx="14732000" cy="9144"/>
          </a:xfrm>
          <a:prstGeom prst="line">
            <a:avLst/>
          </a:prstGeom>
          <a:ln w="25400">
            <a:solidFill>
              <a:srgbClr val="00E5FF">
                <a:alpha val="85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5" name="closing-kicker"/>
          <p:cNvSpPr/>
          <p:nvPr/>
        </p:nvSpPr>
        <p:spPr>
          <a:xfrm>
            <a:off x="990600" y="990600"/>
            <a:ext cx="4572000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t>NEXUS 2026 // FINAL PROTOCOL</a:t>
            </a:r>
            <a:endParaRPr lang="en-US" sz="1300" dirty="0"/>
          </a:p>
        </p:txBody>
      </p:sp>
      <p:sp>
        <p:nvSpPr>
          <p:cNvPr id="6" name="closing-title"/>
          <p:cNvSpPr/>
          <p:nvPr/>
        </p:nvSpPr>
        <p:spPr>
          <a:xfrm>
            <a:off x="1905000" y="3149600"/>
            <a:ext cx="12446000" cy="838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buNone/>
            </a:pPr>
            <a:r>
              <a:t>Detect the signal. Verify the identity.</a:t>
            </a:r>
            <a:endParaRPr lang="en-US" sz="5200" dirty="0"/>
          </a:p>
        </p:txBody>
      </p:sp>
      <p:sp>
        <p:nvSpPr>
          <p:cNvPr id="7" name="closing-title-two"/>
          <p:cNvSpPr/>
          <p:nvPr/>
        </p:nvSpPr>
        <p:spPr>
          <a:xfrm>
            <a:off x="1905000" y="4140200"/>
            <a:ext cx="12446000" cy="838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buNone/>
            </a:pPr>
            <a:r>
              <a:t>Correlate the threat. Make the response safe.</a:t>
            </a:r>
            <a:endParaRPr lang="en-US" sz="5200" dirty="0"/>
          </a:p>
        </p:txBody>
      </p:sp>
      <p:sp>
        <p:nvSpPr>
          <p:cNvPr id="8" name="closing-route"/>
          <p:cNvSpPr/>
          <p:nvPr/>
        </p:nvSpPr>
        <p:spPr>
          <a:xfrm>
            <a:off x="6197600" y="5359400"/>
            <a:ext cx="3860800" cy="9144"/>
          </a:xfrm>
          <a:prstGeom prst="line">
            <a:avLst/>
          </a:prstGeom>
          <a:ln w="50800">
            <a:solidFill>
              <a:srgbClr val="FF007F"/>
            </a:solidFill>
            <a:prstDash val="solid"/>
          </a:ln>
        </p:spPr>
        <p:txBody>
          <a:bodyPr/>
          <a:p/>
        </p:txBody>
      </p:sp>
      <p:sp>
        <p:nvSpPr>
          <p:cNvPr id="9" name="closing-company"/>
          <p:cNvSpPr/>
          <p:nvPr/>
        </p:nvSpPr>
        <p:spPr>
          <a:xfrm>
            <a:off x="3810000" y="5969000"/>
            <a:ext cx="8636000" cy="355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buNone/>
            </a:pPr>
            <a:r>
              <a:t>Tech Creature Solutions</a:t>
            </a:r>
            <a:endParaRPr lang="en-US" sz="2300" dirty="0"/>
          </a:p>
        </p:txBody>
      </p:sp>
      <p:sp>
        <p:nvSpPr>
          <p:cNvPr id="10" name="closing-presenters"/>
          <p:cNvSpPr/>
          <p:nvPr/>
        </p:nvSpPr>
        <p:spPr>
          <a:xfrm>
            <a:off x="3810000" y="6426200"/>
            <a:ext cx="8636000" cy="304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buNone/>
            </a:pPr>
            <a:r>
              <a:t>Mohammad Sahil • Zainab Memon</a:t>
            </a:r>
            <a:endParaRPr lang="en-US" sz="1800" dirty="0"/>
          </a:p>
        </p:txBody>
      </p:sp>
      <p:sp>
        <p:nvSpPr>
          <p:cNvPr id="11" name="closing-topic"/>
          <p:cNvSpPr/>
          <p:nvPr/>
        </p:nvSpPr>
        <p:spPr>
          <a:xfrm>
            <a:off x="3175000" y="6959600"/>
            <a:ext cx="9906000" cy="279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buNone/>
            </a:pPr>
            <a:r>
              <a:t>AegisNexus — AI-Powered Deepfake and Phishing Defense</a:t>
            </a:r>
            <a:endParaRPr lang="en-US" sz="1600" dirty="0"/>
          </a:p>
        </p:txBody>
      </p:sp>
      <p:sp>
        <p:nvSpPr>
          <p:cNvPr id="12" name="closing-thankyou"/>
          <p:cNvSpPr/>
          <p:nvPr/>
        </p:nvSpPr>
        <p:spPr>
          <a:xfrm>
            <a:off x="5080000" y="7772400"/>
            <a:ext cx="6096000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buNone/>
            </a:pPr>
            <a:r>
              <a:t>THANK YOU // QUESTIONS &amp; DEMO</a:t>
            </a:r>
            <a:endParaRPr lang="en-US" sz="1400" dirty="0"/>
          </a:p>
        </p:txBody>
      </p:sp>
      <p:sp>
        <p:nvSpPr>
          <p:cNvPr id="13" name="closing-coordinate"/>
          <p:cNvSpPr/>
          <p:nvPr/>
        </p:nvSpPr>
        <p:spPr>
          <a:xfrm>
            <a:off x="1041400" y="8559800"/>
            <a:ext cx="4191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t>LIVE POC: aegis-nexus-alpha.vercel.app • GITHUB: sahilshaikh1101/AegisNexus-NexusHackathon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52</TotalTime>
  <Words>1203</Words>
  <Application>Microsoft Office PowerPoint</Application>
  <PresentationFormat>Custom</PresentationFormat>
  <Paragraphs>207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7" baseType="lpstr">
      <vt:lpstr>Arial</vt:lpstr>
      <vt:lpstr>JetBrains Mono</vt:lpstr>
      <vt:lpstr>Space Grotesk</vt:lpstr>
      <vt:lpstr>Inter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Manus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SentinelFlow — AI-Powered Real-Time Deepfake and Phishing Detection &amp; Defense System</dc:title>
  <dc:subject>SentinelFlow — AI-Powered Real-Time Deepfake and Phishing Detection &amp; Defense System</dc:subject>
  <dc:creator>Manus</dc:creator>
  <cp:lastModifiedBy>MOHAMMAD SAHIL SHAIKH</cp:lastModifiedBy>
  <cp:revision>1</cp:revision>
  <dcterms:created xsi:type="dcterms:W3CDTF">2026-08-20T17:11:54Z</dcterms:created>
  <dcterms:modified xsi:type="dcterms:W3CDTF">2026-09-02T08:12:17Z</dcterms:modified>
</cp:coreProperties>
</file>