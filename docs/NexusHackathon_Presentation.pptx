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9144000" cy="16256000"/>
  <p:embeddedFontLst>
    <p:embeddedFont>
      <p:font typeface="Inter" panose="020B0604020202020204" charset="0"/>
      <p:regular r:id="rId15"/>
    </p:embeddedFont>
    <p:embeddedFont>
      <p:font typeface="JetBrains Mono" panose="020B0604020202020204" charset="0"/>
      <p:regular r:id="rId16"/>
    </p:embeddedFont>
    <p:embeddedFont>
      <p:font typeface="Space Grotesk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186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image" descr="preencoded.png"/>
          <p:cNvPicPr>
            <a:picLocks noChangeAspect="1"/>
          </p:cNvPicPr>
          <p:nvPr/>
        </p:nvPicPr>
        <p:blipFill>
          <a:blip r:embed="rId3"/>
          <a:srcRect t="28" b="2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background-mask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6101D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over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5" name="cover-kicker"/>
          <p:cNvSpPr/>
          <p:nvPr/>
        </p:nvSpPr>
        <p:spPr>
          <a:xfrm>
            <a:off x="990600" y="9906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4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 // HACKATHON PRESENTATION</a:t>
            </a:r>
            <a:endParaRPr lang="en-US" sz="1400" dirty="0"/>
          </a:p>
        </p:txBody>
      </p:sp>
      <p:pic>
        <p:nvPicPr>
          <p:cNvPr id="6" name="nexus-brand" descr="preencoded.png"/>
          <p:cNvPicPr>
            <a:picLocks noChangeAspect="1"/>
          </p:cNvPicPr>
          <p:nvPr/>
        </p:nvPicPr>
        <p:blipFill>
          <a:blip r:embed="rId4"/>
          <a:srcRect t="-2560" b="-2560"/>
          <a:stretch/>
        </p:blipFill>
        <p:spPr>
          <a:xfrm>
            <a:off x="11484610" y="914400"/>
            <a:ext cx="3628390" cy="1574800"/>
          </a:xfrm>
          <a:prstGeom prst="rect">
            <a:avLst/>
          </a:prstGeom>
        </p:spPr>
      </p:pic>
      <p:sp>
        <p:nvSpPr>
          <p:cNvPr id="7" name="cover-title"/>
          <p:cNvSpPr/>
          <p:nvPr/>
        </p:nvSpPr>
        <p:spPr>
          <a:xfrm>
            <a:off x="990600" y="2946400"/>
            <a:ext cx="9144000" cy="1092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7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AegisNexus</a:t>
            </a:r>
            <a:endParaRPr lang="en-US" sz="7000" dirty="0"/>
          </a:p>
        </p:txBody>
      </p:sp>
      <p:sp>
        <p:nvSpPr>
          <p:cNvPr id="8" name="cover-tagline"/>
          <p:cNvSpPr/>
          <p:nvPr/>
        </p:nvSpPr>
        <p:spPr>
          <a:xfrm>
            <a:off x="1041400" y="4254500"/>
            <a:ext cx="965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360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 the Signal. Defend the Decision.</a:t>
            </a:r>
            <a:endParaRPr lang="en-US" sz="3600" dirty="0"/>
          </a:p>
        </p:txBody>
      </p:sp>
      <p:sp>
        <p:nvSpPr>
          <p:cNvPr id="9" name="cover-route"/>
          <p:cNvSpPr/>
          <p:nvPr/>
        </p:nvSpPr>
        <p:spPr>
          <a:xfrm>
            <a:off x="1041400" y="5232400"/>
            <a:ext cx="4902200" cy="9144"/>
          </a:xfrm>
          <a:prstGeom prst="line">
            <a:avLst/>
          </a:prstGeom>
          <a:ln w="50800">
            <a:solidFill>
              <a:srgbClr val="FF007F"/>
            </a:solidFill>
            <a:prstDash val="solid"/>
          </a:ln>
        </p:spPr>
      </p:sp>
      <p:sp>
        <p:nvSpPr>
          <p:cNvPr id="10" name="cover-topic"/>
          <p:cNvSpPr/>
          <p:nvPr/>
        </p:nvSpPr>
        <p:spPr>
          <a:xfrm>
            <a:off x="1041400" y="5588000"/>
            <a:ext cx="8763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6"/>
              </a:lnSpc>
              <a:buNone/>
            </a:pPr>
            <a:r>
              <a:rPr lang="en-US" alt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Real-Time Deepfake and Phishing Detection &amp; Defense System</a:t>
            </a:r>
            <a:endParaRPr lang="en-US" sz="2300" dirty="0"/>
          </a:p>
        </p:txBody>
      </p:sp>
      <p:sp>
        <p:nvSpPr>
          <p:cNvPr id="11" name="cover-presenters-label"/>
          <p:cNvSpPr/>
          <p:nvPr/>
        </p:nvSpPr>
        <p:spPr>
          <a:xfrm>
            <a:off x="1041400" y="68072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12" name="cover-presenters"/>
          <p:cNvSpPr/>
          <p:nvPr/>
        </p:nvSpPr>
        <p:spPr>
          <a:xfrm>
            <a:off x="1041400" y="7086600"/>
            <a:ext cx="787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Mohammad Sahil · Zainab Memon</a:t>
            </a:r>
            <a:endParaRPr lang="en-US" sz="2200" dirty="0"/>
          </a:p>
        </p:txBody>
      </p:sp>
      <p:sp>
        <p:nvSpPr>
          <p:cNvPr id="13" name="cover-company"/>
          <p:cNvSpPr/>
          <p:nvPr/>
        </p:nvSpPr>
        <p:spPr>
          <a:xfrm>
            <a:off x="1041400" y="7569200"/>
            <a:ext cx="5588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Creature Solutions</a:t>
            </a:r>
            <a:endParaRPr lang="en-US" sz="1800" dirty="0"/>
          </a:p>
        </p:txBody>
      </p:sp>
      <p:sp>
        <p:nvSpPr>
          <p:cNvPr id="14" name="cover-affiliation"/>
          <p:cNvSpPr/>
          <p:nvPr/>
        </p:nvSpPr>
        <p:spPr>
          <a:xfrm>
            <a:off x="1041400" y="8001000"/>
            <a:ext cx="774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GLS University · Faculty of Engineering and Technology</a:t>
            </a:r>
            <a:endParaRPr lang="en-US" sz="1500" dirty="0"/>
          </a:p>
        </p:txBody>
      </p:sp>
      <p:sp>
        <p:nvSpPr>
          <p:cNvPr id="15" name="cover-coordinate"/>
          <p:cNvSpPr/>
          <p:nvPr/>
        </p:nvSpPr>
        <p:spPr>
          <a:xfrm>
            <a:off x="1041400" y="85598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BRIEF // NEXUS 2026 // SEC-01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reat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threat-section"/>
          <p:cNvSpPr/>
          <p:nvPr/>
        </p:nvSpPr>
        <p:spPr>
          <a:xfrm>
            <a:off x="762000" y="9144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01 // PROBLEM STATEMENT</a:t>
            </a:r>
            <a:endParaRPr lang="en-US" sz="1300" dirty="0"/>
          </a:p>
        </p:txBody>
      </p:sp>
      <p:sp>
        <p:nvSpPr>
          <p:cNvPr id="4" name="threat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threat-title"/>
          <p:cNvSpPr/>
          <p:nvPr/>
        </p:nvSpPr>
        <p:spPr>
          <a:xfrm>
            <a:off x="762000" y="1498600"/>
            <a:ext cx="71755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88"/>
              </a:lnSpc>
              <a:buNone/>
            </a:pPr>
            <a:r>
              <a:rPr lang="en-US" altLang="en-US" sz="4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turned one phishing email into a coordinated impersonation attack</a:t>
            </a:r>
            <a:endParaRPr lang="en-US" sz="4700" dirty="0"/>
          </a:p>
        </p:txBody>
      </p:sp>
      <p:sp>
        <p:nvSpPr>
          <p:cNvPr id="6" name="threat-card-one"/>
          <p:cNvSpPr/>
          <p:nvPr/>
        </p:nvSpPr>
        <p:spPr>
          <a:xfrm>
            <a:off x="762000" y="3683000"/>
            <a:ext cx="6858000" cy="1041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7" name="threat-mai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3975100"/>
            <a:ext cx="406400" cy="406400"/>
          </a:xfrm>
          <a:prstGeom prst="rect">
            <a:avLst/>
          </a:prstGeom>
        </p:spPr>
      </p:pic>
      <p:sp>
        <p:nvSpPr>
          <p:cNvPr id="8" name="threat-mail-title"/>
          <p:cNvSpPr/>
          <p:nvPr/>
        </p:nvSpPr>
        <p:spPr>
          <a:xfrm>
            <a:off x="1714500" y="38862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Polished phishing</a:t>
            </a:r>
            <a:endParaRPr lang="en-US" sz="2100" dirty="0"/>
          </a:p>
        </p:txBody>
      </p:sp>
      <p:sp>
        <p:nvSpPr>
          <p:cNvPr id="9" name="threat-mail-body"/>
          <p:cNvSpPr/>
          <p:nvPr/>
        </p:nvSpPr>
        <p:spPr>
          <a:xfrm>
            <a:off x="1714500" y="42545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 language, urgent payment requests, look-alike links.</a:t>
            </a:r>
            <a:endParaRPr lang="en-US" sz="1600" dirty="0"/>
          </a:p>
        </p:txBody>
      </p:sp>
      <p:sp>
        <p:nvSpPr>
          <p:cNvPr id="10" name="threat-card-two"/>
          <p:cNvSpPr/>
          <p:nvPr/>
        </p:nvSpPr>
        <p:spPr>
          <a:xfrm>
            <a:off x="762000" y="4953000"/>
            <a:ext cx="6858000" cy="1041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1" name="threat-audi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5245100"/>
            <a:ext cx="406400" cy="406400"/>
          </a:xfrm>
          <a:prstGeom prst="rect">
            <a:avLst/>
          </a:prstGeom>
        </p:spPr>
      </p:pic>
      <p:sp>
        <p:nvSpPr>
          <p:cNvPr id="12" name="threat-audio-title"/>
          <p:cNvSpPr/>
          <p:nvPr/>
        </p:nvSpPr>
        <p:spPr>
          <a:xfrm>
            <a:off x="1714500" y="51562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Synthetic presence</a:t>
            </a:r>
            <a:endParaRPr lang="en-US" sz="2100" dirty="0"/>
          </a:p>
        </p:txBody>
      </p:sp>
      <p:sp>
        <p:nvSpPr>
          <p:cNvPr id="13" name="threat-audio-body"/>
          <p:cNvSpPr/>
          <p:nvPr/>
        </p:nvSpPr>
        <p:spPr>
          <a:xfrm>
            <a:off x="1714500" y="55245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Cloned voice and manipulated video imitate authority.</a:t>
            </a:r>
            <a:endParaRPr lang="en-US" sz="1600" dirty="0"/>
          </a:p>
        </p:txBody>
      </p:sp>
      <p:sp>
        <p:nvSpPr>
          <p:cNvPr id="14" name="threat-card-three"/>
          <p:cNvSpPr/>
          <p:nvPr/>
        </p:nvSpPr>
        <p:spPr>
          <a:xfrm>
            <a:off x="762000" y="6223000"/>
            <a:ext cx="6858000" cy="1041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5" name="threat-network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6515100"/>
            <a:ext cx="406400" cy="406400"/>
          </a:xfrm>
          <a:prstGeom prst="rect">
            <a:avLst/>
          </a:prstGeom>
        </p:spPr>
      </p:pic>
      <p:sp>
        <p:nvSpPr>
          <p:cNvPr id="16" name="threat-network-title"/>
          <p:cNvSpPr/>
          <p:nvPr/>
        </p:nvSpPr>
        <p:spPr>
          <a:xfrm>
            <a:off x="1714500" y="64262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Multiple channels</a:t>
            </a:r>
            <a:endParaRPr lang="en-US" sz="2100" dirty="0"/>
          </a:p>
        </p:txBody>
      </p:sp>
      <p:sp>
        <p:nvSpPr>
          <p:cNvPr id="17" name="threat-network-body"/>
          <p:cNvSpPr/>
          <p:nvPr/>
        </p:nvSpPr>
        <p:spPr>
          <a:xfrm>
            <a:off x="1714500" y="6794500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Email, URL, voice, video, and network activity converge.</a:t>
            </a:r>
            <a:endParaRPr lang="en-US" sz="1600" dirty="0"/>
          </a:p>
        </p:txBody>
      </p:sp>
      <p:pic>
        <p:nvPicPr>
          <p:cNvPr id="18" name="threat-visual" descr="preencoded.png"/>
          <p:cNvPicPr>
            <a:picLocks noChangeAspect="1"/>
          </p:cNvPicPr>
          <p:nvPr/>
        </p:nvPicPr>
        <p:blipFill>
          <a:blip r:embed="rId6">
            <a:alphaModFix amt="95000"/>
          </a:blip>
          <a:srcRect l="13351" r="13351"/>
          <a:stretch/>
        </p:blipFill>
        <p:spPr>
          <a:xfrm>
            <a:off x="8382000" y="2032000"/>
            <a:ext cx="7112000" cy="5461000"/>
          </a:xfrm>
          <a:prstGeom prst="rect">
            <a:avLst/>
          </a:prstGeom>
        </p:spPr>
      </p:pic>
      <p:sp>
        <p:nvSpPr>
          <p:cNvPr id="19" name="threat-visual-frame"/>
          <p:cNvSpPr/>
          <p:nvPr/>
        </p:nvSpPr>
        <p:spPr>
          <a:xfrm>
            <a:off x="8382000" y="2032000"/>
            <a:ext cx="7112000" cy="5461000"/>
          </a:xfrm>
          <a:prstGeom prst="rect">
            <a:avLst/>
          </a:prstGeom>
          <a:ln w="12700">
            <a:solidFill>
              <a:srgbClr val="23304C"/>
            </a:solidFill>
            <a:prstDash val="solid"/>
          </a:ln>
        </p:spPr>
      </p:sp>
      <p:sp>
        <p:nvSpPr>
          <p:cNvPr id="20" name="threat-source"/>
          <p:cNvSpPr/>
          <p:nvPr/>
        </p:nvSpPr>
        <p:spPr>
          <a:xfrm>
            <a:off x="762000" y="8128000"/>
            <a:ext cx="1104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Sources: NSA, FBI &amp; CISA deepfake-threat guidance · FBI business-email-compromise guidance</a:t>
            </a:r>
            <a:endParaRPr lang="en-US" sz="1100" dirty="0"/>
          </a:p>
        </p:txBody>
      </p:sp>
      <p:sp>
        <p:nvSpPr>
          <p:cNvPr id="21" name="threat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SEC-02 // THREAT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ap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gap-section"/>
          <p:cNvSpPr/>
          <p:nvPr/>
        </p:nvSpPr>
        <p:spPr>
          <a:xfrm>
            <a:off x="762000" y="914400"/>
            <a:ext cx="609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PROBLEM DETAIL // WHY LEGACY CONTROLS MISS CAMPAIGNS</a:t>
            </a:r>
            <a:endParaRPr lang="en-US" sz="1300" dirty="0"/>
          </a:p>
        </p:txBody>
      </p:sp>
      <p:sp>
        <p:nvSpPr>
          <p:cNvPr id="4" name="gap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gap-title"/>
          <p:cNvSpPr/>
          <p:nvPr/>
        </p:nvSpPr>
        <p:spPr>
          <a:xfrm>
            <a:off x="762000" y="1498600"/>
            <a:ext cx="11430000" cy="736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alerts hide the full attack story</a:t>
            </a:r>
            <a:endParaRPr lang="en-US" sz="4500" dirty="0"/>
          </a:p>
        </p:txBody>
      </p:sp>
      <p:sp>
        <p:nvSpPr>
          <p:cNvPr id="6" name="gap-insight"/>
          <p:cNvSpPr/>
          <p:nvPr/>
        </p:nvSpPr>
        <p:spPr>
          <a:xfrm>
            <a:off x="762000" y="23368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Attackers coordinate signals; traditional tools often isolate them. AegisNexus correlates them before a payment or access decision is made.</a:t>
            </a:r>
            <a:endParaRPr lang="en-US" sz="1800" dirty="0"/>
          </a:p>
        </p:txBody>
      </p:sp>
      <p:sp>
        <p:nvSpPr>
          <p:cNvPr id="7" name="gap-left-label"/>
          <p:cNvSpPr/>
          <p:nvPr/>
        </p:nvSpPr>
        <p:spPr>
          <a:xfrm>
            <a:off x="762000" y="28702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FF007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TRADITIONAL VIEW // 4 SEPARATE ALERTS</a:t>
            </a:r>
            <a:endParaRPr lang="en-US" sz="1300" dirty="0"/>
          </a:p>
        </p:txBody>
      </p:sp>
      <p:sp>
        <p:nvSpPr>
          <p:cNvPr id="8" name="gap-right-label"/>
          <p:cNvSpPr/>
          <p:nvPr/>
        </p:nvSpPr>
        <p:spPr>
          <a:xfrm>
            <a:off x="9118600" y="28702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AEGISNEXUS VIEW // 1 CORRELATED INCIDENT</a:t>
            </a:r>
            <a:endParaRPr lang="en-US" sz="1300" dirty="0"/>
          </a:p>
        </p:txBody>
      </p:sp>
      <p:sp>
        <p:nvSpPr>
          <p:cNvPr id="9" name="gap-alert-one"/>
          <p:cNvSpPr/>
          <p:nvPr/>
        </p:nvSpPr>
        <p:spPr>
          <a:xfrm>
            <a:off x="762000" y="3352800"/>
            <a:ext cx="5334000" cy="787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0" name="gap-email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3568700"/>
            <a:ext cx="330200" cy="330200"/>
          </a:xfrm>
          <a:prstGeom prst="rect">
            <a:avLst/>
          </a:prstGeom>
        </p:spPr>
      </p:pic>
      <p:sp>
        <p:nvSpPr>
          <p:cNvPr id="11" name="gap-email-text"/>
          <p:cNvSpPr/>
          <p:nvPr/>
        </p:nvSpPr>
        <p:spPr>
          <a:xfrm>
            <a:off x="1651000" y="3581400"/>
            <a:ext cx="393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Suspicious payment email</a:t>
            </a:r>
            <a:endParaRPr lang="en-US" sz="1700" dirty="0"/>
          </a:p>
        </p:txBody>
      </p:sp>
      <p:sp>
        <p:nvSpPr>
          <p:cNvPr id="12" name="gap-alert-two"/>
          <p:cNvSpPr/>
          <p:nvPr/>
        </p:nvSpPr>
        <p:spPr>
          <a:xfrm>
            <a:off x="762000" y="4368800"/>
            <a:ext cx="5334000" cy="787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3" name="gap-url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4584700"/>
            <a:ext cx="330200" cy="330200"/>
          </a:xfrm>
          <a:prstGeom prst="rect">
            <a:avLst/>
          </a:prstGeom>
        </p:spPr>
      </p:pic>
      <p:sp>
        <p:nvSpPr>
          <p:cNvPr id="14" name="gap-url-text"/>
          <p:cNvSpPr/>
          <p:nvPr/>
        </p:nvSpPr>
        <p:spPr>
          <a:xfrm>
            <a:off x="1651000" y="4597400"/>
            <a:ext cx="393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Look-alike payment URL</a:t>
            </a:r>
            <a:endParaRPr lang="en-US" sz="1700" dirty="0"/>
          </a:p>
        </p:txBody>
      </p:sp>
      <p:sp>
        <p:nvSpPr>
          <p:cNvPr id="15" name="gap-alert-three"/>
          <p:cNvSpPr/>
          <p:nvPr/>
        </p:nvSpPr>
        <p:spPr>
          <a:xfrm>
            <a:off x="762000" y="5384800"/>
            <a:ext cx="5334000" cy="787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6" name="gap-voic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5600700"/>
            <a:ext cx="330200" cy="330200"/>
          </a:xfrm>
          <a:prstGeom prst="rect">
            <a:avLst/>
          </a:prstGeom>
        </p:spPr>
      </p:pic>
      <p:sp>
        <p:nvSpPr>
          <p:cNvPr id="17" name="gap-voice-text"/>
          <p:cNvSpPr/>
          <p:nvPr/>
        </p:nvSpPr>
        <p:spPr>
          <a:xfrm>
            <a:off x="1651000" y="5613400"/>
            <a:ext cx="393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voice note</a:t>
            </a:r>
            <a:endParaRPr lang="en-US" sz="1700" dirty="0"/>
          </a:p>
        </p:txBody>
      </p:sp>
      <p:sp>
        <p:nvSpPr>
          <p:cNvPr id="18" name="gap-alert-four"/>
          <p:cNvSpPr/>
          <p:nvPr/>
        </p:nvSpPr>
        <p:spPr>
          <a:xfrm>
            <a:off x="762000" y="6400800"/>
            <a:ext cx="5334000" cy="7874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9" name="gap-network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400" y="6616700"/>
            <a:ext cx="330200" cy="330200"/>
          </a:xfrm>
          <a:prstGeom prst="rect">
            <a:avLst/>
          </a:prstGeom>
        </p:spPr>
      </p:pic>
      <p:sp>
        <p:nvSpPr>
          <p:cNvPr id="20" name="gap-network-text"/>
          <p:cNvSpPr/>
          <p:nvPr/>
        </p:nvSpPr>
        <p:spPr>
          <a:xfrm>
            <a:off x="1651000" y="6629400"/>
            <a:ext cx="3937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domain activity</a:t>
            </a:r>
            <a:endParaRPr lang="en-US" sz="1700" dirty="0"/>
          </a:p>
        </p:txBody>
      </p:sp>
      <p:sp>
        <p:nvSpPr>
          <p:cNvPr id="21" name="gap-arrow"/>
          <p:cNvSpPr/>
          <p:nvPr/>
        </p:nvSpPr>
        <p:spPr>
          <a:xfrm>
            <a:off x="6794500" y="4724400"/>
            <a:ext cx="1460500" cy="9144"/>
          </a:xfrm>
          <a:prstGeom prst="line">
            <a:avLst/>
          </a:prstGeom>
          <a:ln w="12700">
            <a:solidFill>
              <a:srgbClr val="00E5FF">
                <a:alpha val="9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gap-arrow-caption"/>
          <p:cNvSpPr/>
          <p:nvPr/>
        </p:nvSpPr>
        <p:spPr>
          <a:xfrm>
            <a:off x="6654800" y="5130800"/>
            <a:ext cx="1778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CORRELATE</a:t>
            </a:r>
            <a:endParaRPr lang="en-US" sz="1200" dirty="0"/>
          </a:p>
          <a:p>
            <a:pPr marL="0" indent="0" algn="ctr">
              <a:lnSpc>
                <a:spcPts val="1260"/>
              </a:lnSpc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3" name="gap-incident"/>
          <p:cNvSpPr/>
          <p:nvPr/>
        </p:nvSpPr>
        <p:spPr>
          <a:xfrm>
            <a:off x="9118600" y="3352800"/>
            <a:ext cx="6375400" cy="3835400"/>
          </a:xfrm>
          <a:prstGeom prst="rect">
            <a:avLst/>
          </a:prstGeom>
          <a:solidFill>
            <a:srgbClr val="141C2F"/>
          </a:solidFill>
          <a:ln w="25400">
            <a:solidFill>
              <a:srgbClr val="00E5FF"/>
            </a:solidFill>
            <a:prstDash val="solid"/>
          </a:ln>
          <a:effectLst>
            <a:outerShdw blurRad="1524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4" name="gap-risk-tag"/>
          <p:cNvSpPr/>
          <p:nvPr/>
        </p:nvSpPr>
        <p:spPr>
          <a:xfrm>
            <a:off x="9499600" y="3708400"/>
            <a:ext cx="1574800" cy="355600"/>
          </a:xfrm>
          <a:prstGeom prst="rect">
            <a:avLst/>
          </a:prstGeom>
          <a:solidFill>
            <a:srgbClr val="FFB300"/>
          </a:solidFill>
          <a:ln/>
        </p:spPr>
        <p:txBody>
          <a:bodyPr/>
          <a:p/>
        </p:txBody>
      </p:sp>
      <p:sp>
        <p:nvSpPr>
          <p:cNvPr id="25" name="gap-risk-tag-text"/>
          <p:cNvSpPr/>
          <p:nvPr/>
        </p:nvSpPr>
        <p:spPr>
          <a:xfrm>
            <a:off x="9499600" y="3759200"/>
            <a:ext cx="15748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0A0F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 RISK</a:t>
            </a:r>
            <a:endParaRPr lang="en-US" sz="1200" dirty="0"/>
          </a:p>
        </p:txBody>
      </p:sp>
      <p:sp>
        <p:nvSpPr>
          <p:cNvPr id="26" name="gap-incident-title"/>
          <p:cNvSpPr/>
          <p:nvPr/>
        </p:nvSpPr>
        <p:spPr>
          <a:xfrm>
            <a:off x="9499600" y="4343400"/>
            <a:ext cx="5461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Possible CFO impersonation</a:t>
            </a:r>
            <a:endParaRPr lang="en-US" sz="2700" dirty="0"/>
          </a:p>
        </p:txBody>
      </p:sp>
      <p:sp>
        <p:nvSpPr>
          <p:cNvPr id="27" name="gap-incident-body"/>
          <p:cNvSpPr/>
          <p:nvPr/>
        </p:nvSpPr>
        <p:spPr>
          <a:xfrm>
            <a:off x="9499600" y="4953000"/>
            <a:ext cx="533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Urgent-payment intent + look-alike domain + unknown voice channel + identity anomaly + linked alert history.</a:t>
            </a:r>
            <a:endParaRPr lang="en-US" sz="1800" dirty="0"/>
          </a:p>
        </p:txBody>
      </p:sp>
      <p:sp>
        <p:nvSpPr>
          <p:cNvPr id="28" name="gap-incident-divider"/>
          <p:cNvSpPr/>
          <p:nvPr/>
        </p:nvSpPr>
        <p:spPr>
          <a:xfrm>
            <a:off x="9499600" y="6070600"/>
            <a:ext cx="5384800" cy="9144"/>
          </a:xfrm>
          <a:prstGeom prst="line">
            <a:avLst/>
          </a:prstGeom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sp>
        <p:nvSpPr>
          <p:cNvPr id="29" name="gap-incident-action-label"/>
          <p:cNvSpPr/>
          <p:nvPr/>
        </p:nvSpPr>
        <p:spPr>
          <a:xfrm>
            <a:off x="9499600" y="63500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RECOMMENDED ACTION</a:t>
            </a:r>
            <a:endParaRPr lang="en-US" sz="1200" dirty="0"/>
          </a:p>
        </p:txBody>
      </p:sp>
      <p:sp>
        <p:nvSpPr>
          <p:cNvPr id="30" name="gap-incident-action"/>
          <p:cNvSpPr/>
          <p:nvPr/>
        </p:nvSpPr>
        <p:spPr>
          <a:xfrm>
            <a:off x="9499600" y="66929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· block · notify analyst</a:t>
            </a:r>
            <a:endParaRPr lang="en-US" sz="1800" dirty="0"/>
          </a:p>
        </p:txBody>
      </p:sp>
      <p:sp>
        <p:nvSpPr>
          <p:cNvPr id="31" name="gap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SEC-03 // PROBLEM CONTEXT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lution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solution-section"/>
          <p:cNvSpPr/>
          <p:nvPr/>
        </p:nvSpPr>
        <p:spPr>
          <a:xfrm>
            <a:off x="762000" y="9144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02 // EXPECTED OUTCOME + PROPOSED SOLUTION</a:t>
            </a:r>
            <a:endParaRPr lang="en-US" sz="1300" dirty="0"/>
          </a:p>
        </p:txBody>
      </p:sp>
      <p:sp>
        <p:nvSpPr>
          <p:cNvPr id="4" name="solution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solution-title"/>
          <p:cNvSpPr/>
          <p:nvPr/>
        </p:nvSpPr>
        <p:spPr>
          <a:xfrm>
            <a:off x="762000" y="1498600"/>
            <a:ext cx="14097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AegisNexus converts signals into one defensible decision</a:t>
            </a:r>
            <a:endParaRPr lang="en-US" sz="4300" dirty="0"/>
          </a:p>
        </p:txBody>
      </p:sp>
      <p:sp>
        <p:nvSpPr>
          <p:cNvPr id="6" name="solution-promise"/>
          <p:cNvSpPr/>
          <p:nvPr/>
        </p:nvSpPr>
        <p:spPr>
          <a:xfrm>
            <a:off x="762000" y="23114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signals. One explainable risk decision. Safe human-controlled response.</a:t>
            </a:r>
            <a:endParaRPr lang="en-US" sz="1800" dirty="0"/>
          </a:p>
        </p:txBody>
      </p:sp>
      <p:sp>
        <p:nvSpPr>
          <p:cNvPr id="7" name="solution-card-one"/>
          <p:cNvSpPr/>
          <p:nvPr/>
        </p:nvSpPr>
        <p:spPr>
          <a:xfrm>
            <a:off x="762000" y="30480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8" name="solution-icon-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352800"/>
            <a:ext cx="431800" cy="431800"/>
          </a:xfrm>
          <a:prstGeom prst="rect">
            <a:avLst/>
          </a:prstGeom>
        </p:spPr>
      </p:pic>
      <p:sp>
        <p:nvSpPr>
          <p:cNvPr id="9" name="solution-title-one"/>
          <p:cNvSpPr/>
          <p:nvPr/>
        </p:nvSpPr>
        <p:spPr>
          <a:xfrm>
            <a:off x="1066800" y="3987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Phishing Intelligence</a:t>
            </a:r>
            <a:endParaRPr lang="en-US" sz="2200" dirty="0"/>
          </a:p>
        </p:txBody>
      </p:sp>
      <p:sp>
        <p:nvSpPr>
          <p:cNvPr id="10" name="solution-body-one"/>
          <p:cNvSpPr/>
          <p:nvPr/>
        </p:nvSpPr>
        <p:spPr>
          <a:xfrm>
            <a:off x="1066800" y="44069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Intent, sender, URL, attachment, and urgency checks.</a:t>
            </a:r>
            <a:endParaRPr lang="en-US" sz="1600" dirty="0"/>
          </a:p>
        </p:txBody>
      </p:sp>
      <p:sp>
        <p:nvSpPr>
          <p:cNvPr id="11" name="solution-card-two"/>
          <p:cNvSpPr/>
          <p:nvPr/>
        </p:nvSpPr>
        <p:spPr>
          <a:xfrm>
            <a:off x="5715000" y="30480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2" name="solution-icon-tw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3352800"/>
            <a:ext cx="431800" cy="431800"/>
          </a:xfrm>
          <a:prstGeom prst="rect">
            <a:avLst/>
          </a:prstGeom>
        </p:spPr>
      </p:pic>
      <p:sp>
        <p:nvSpPr>
          <p:cNvPr id="13" name="solution-title-two"/>
          <p:cNvSpPr/>
          <p:nvPr/>
        </p:nvSpPr>
        <p:spPr>
          <a:xfrm>
            <a:off x="6019800" y="3987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Deepfake Analysis</a:t>
            </a:r>
            <a:endParaRPr lang="en-US" sz="2200" dirty="0"/>
          </a:p>
        </p:txBody>
      </p:sp>
      <p:sp>
        <p:nvSpPr>
          <p:cNvPr id="14" name="solution-body-two"/>
          <p:cNvSpPr/>
          <p:nvPr/>
        </p:nvSpPr>
        <p:spPr>
          <a:xfrm>
            <a:off x="6019800" y="44069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mismatch, replay clues, facial and lip-sync indicators.</a:t>
            </a:r>
            <a:endParaRPr lang="en-US" sz="1600" dirty="0"/>
          </a:p>
        </p:txBody>
      </p:sp>
      <p:sp>
        <p:nvSpPr>
          <p:cNvPr id="15" name="solution-card-three"/>
          <p:cNvSpPr/>
          <p:nvPr/>
        </p:nvSpPr>
        <p:spPr>
          <a:xfrm>
            <a:off x="10668000" y="30480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6" name="solution-icon-thre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352800"/>
            <a:ext cx="431800" cy="431800"/>
          </a:xfrm>
          <a:prstGeom prst="rect">
            <a:avLst/>
          </a:prstGeom>
        </p:spPr>
      </p:pic>
      <p:sp>
        <p:nvSpPr>
          <p:cNvPr id="17" name="solution-title-three"/>
          <p:cNvSpPr/>
          <p:nvPr/>
        </p:nvSpPr>
        <p:spPr>
          <a:xfrm>
            <a:off x="10972800" y="39878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Executive Digital Twin</a:t>
            </a:r>
            <a:endParaRPr lang="en-US" sz="2200" dirty="0"/>
          </a:p>
        </p:txBody>
      </p:sp>
      <p:sp>
        <p:nvSpPr>
          <p:cNvPr id="18" name="solution-body-three"/>
          <p:cNvSpPr/>
          <p:nvPr/>
        </p:nvSpPr>
        <p:spPr>
          <a:xfrm>
            <a:off x="10972800" y="44069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channels, behavior, and transaction patterns.</a:t>
            </a:r>
            <a:endParaRPr lang="en-US" sz="1600" dirty="0"/>
          </a:p>
        </p:txBody>
      </p:sp>
      <p:sp>
        <p:nvSpPr>
          <p:cNvPr id="19" name="solution-card-four"/>
          <p:cNvSpPr/>
          <p:nvPr/>
        </p:nvSpPr>
        <p:spPr>
          <a:xfrm>
            <a:off x="762000" y="54102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20" name="solution-icon-four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" y="5715000"/>
            <a:ext cx="431800" cy="431800"/>
          </a:xfrm>
          <a:prstGeom prst="rect">
            <a:avLst/>
          </a:prstGeom>
        </p:spPr>
      </p:pic>
      <p:sp>
        <p:nvSpPr>
          <p:cNvPr id="21" name="solution-title-four"/>
          <p:cNvSpPr/>
          <p:nvPr/>
        </p:nvSpPr>
        <p:spPr>
          <a:xfrm>
            <a:off x="1066800" y="635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Threat + Network Context</a:t>
            </a:r>
            <a:endParaRPr lang="en-US" sz="2200" dirty="0"/>
          </a:p>
        </p:txBody>
      </p:sp>
      <p:sp>
        <p:nvSpPr>
          <p:cNvPr id="22" name="solution-body-four"/>
          <p:cNvSpPr/>
          <p:nvPr/>
        </p:nvSpPr>
        <p:spPr>
          <a:xfrm>
            <a:off x="1066800" y="67691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Domains, IPs, devices, DNS activity, and policy signals.</a:t>
            </a:r>
            <a:endParaRPr lang="en-US" sz="1600" dirty="0"/>
          </a:p>
        </p:txBody>
      </p:sp>
      <p:sp>
        <p:nvSpPr>
          <p:cNvPr id="23" name="solution-card-five"/>
          <p:cNvSpPr/>
          <p:nvPr/>
        </p:nvSpPr>
        <p:spPr>
          <a:xfrm>
            <a:off x="5715000" y="54102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24" name="solution-icon-fiv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5715000"/>
            <a:ext cx="431800" cy="431800"/>
          </a:xfrm>
          <a:prstGeom prst="rect">
            <a:avLst/>
          </a:prstGeom>
        </p:spPr>
      </p:pic>
      <p:sp>
        <p:nvSpPr>
          <p:cNvPr id="25" name="solution-title-five"/>
          <p:cNvSpPr/>
          <p:nvPr/>
        </p:nvSpPr>
        <p:spPr>
          <a:xfrm>
            <a:off x="6019800" y="635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Attack Graph</a:t>
            </a:r>
            <a:endParaRPr lang="en-US" sz="2200" dirty="0"/>
          </a:p>
        </p:txBody>
      </p:sp>
      <p:sp>
        <p:nvSpPr>
          <p:cNvPr id="26" name="solution-body-five"/>
          <p:cNvSpPr/>
          <p:nvPr/>
        </p:nvSpPr>
        <p:spPr>
          <a:xfrm>
            <a:off x="6019800" y="67691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Links people, URLs, phones, devices, and past alerts.</a:t>
            </a:r>
            <a:endParaRPr lang="en-US" sz="1600" dirty="0"/>
          </a:p>
        </p:txBody>
      </p:sp>
      <p:sp>
        <p:nvSpPr>
          <p:cNvPr id="27" name="solution-card-six"/>
          <p:cNvSpPr/>
          <p:nvPr/>
        </p:nvSpPr>
        <p:spPr>
          <a:xfrm>
            <a:off x="10668000" y="5410200"/>
            <a:ext cx="4318000" cy="195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8" name="solution-icon-six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0" y="5715000"/>
            <a:ext cx="431800" cy="431800"/>
          </a:xfrm>
          <a:prstGeom prst="rect">
            <a:avLst/>
          </a:prstGeom>
        </p:spPr>
      </p:pic>
      <p:sp>
        <p:nvSpPr>
          <p:cNvPr id="29" name="solution-title-six"/>
          <p:cNvSpPr/>
          <p:nvPr/>
        </p:nvSpPr>
        <p:spPr>
          <a:xfrm>
            <a:off x="10972800" y="6350000"/>
            <a:ext cx="355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Explainable Risk + Response</a:t>
            </a:r>
            <a:endParaRPr lang="en-US" sz="2200" dirty="0"/>
          </a:p>
        </p:txBody>
      </p:sp>
      <p:sp>
        <p:nvSpPr>
          <p:cNvPr id="30" name="solution-body-six"/>
          <p:cNvSpPr/>
          <p:nvPr/>
        </p:nvSpPr>
        <p:spPr>
          <a:xfrm>
            <a:off x="10972800" y="6769100"/>
            <a:ext cx="35560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Score, evidence, confidence, action, and analyst approval.</a:t>
            </a:r>
            <a:endParaRPr lang="en-US" sz="1600" dirty="0"/>
          </a:p>
        </p:txBody>
      </p:sp>
      <p:sp>
        <p:nvSpPr>
          <p:cNvPr id="31" name="solution-output-strip"/>
          <p:cNvSpPr/>
          <p:nvPr/>
        </p:nvSpPr>
        <p:spPr>
          <a:xfrm>
            <a:off x="3175000" y="7747000"/>
            <a:ext cx="9906000" cy="482600"/>
          </a:xfrm>
          <a:prstGeom prst="rect">
            <a:avLst/>
          </a:prstGeom>
          <a:solidFill>
            <a:srgbClr val="141C2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solution-output-label"/>
          <p:cNvSpPr/>
          <p:nvPr/>
        </p:nvSpPr>
        <p:spPr>
          <a:xfrm>
            <a:off x="3454400" y="7874000"/>
            <a:ext cx="1968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EXPECTED OUTPUT</a:t>
            </a:r>
            <a:endParaRPr lang="en-US" sz="1200" dirty="0"/>
          </a:p>
        </p:txBody>
      </p:sp>
      <p:sp>
        <p:nvSpPr>
          <p:cNvPr id="33" name="solution-output-body"/>
          <p:cNvSpPr/>
          <p:nvPr/>
        </p:nvSpPr>
        <p:spPr>
          <a:xfrm>
            <a:off x="5588000" y="78613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· confidence · evidence · attack graph · recommended response</a:t>
            </a:r>
            <a:endParaRPr lang="en-US" sz="1600" dirty="0"/>
          </a:p>
        </p:txBody>
      </p:sp>
      <p:sp>
        <p:nvSpPr>
          <p:cNvPr id="34" name="solution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SEC-04 // SOLUTION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kflow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workflow-section"/>
          <p:cNvSpPr/>
          <p:nvPr/>
        </p:nvSpPr>
        <p:spPr>
          <a:xfrm>
            <a:off x="762000" y="9144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03 // WORKFLOW DIAGRAM</a:t>
            </a:r>
            <a:endParaRPr lang="en-US" sz="1300" dirty="0"/>
          </a:p>
        </p:txBody>
      </p:sp>
      <p:sp>
        <p:nvSpPr>
          <p:cNvPr id="4" name="workflow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workflow-title"/>
          <p:cNvSpPr/>
          <p:nvPr/>
        </p:nvSpPr>
        <p:spPr>
          <a:xfrm>
            <a:off x="762000" y="1498600"/>
            <a:ext cx="10160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5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real-time defense workflow</a:t>
            </a:r>
            <a:endParaRPr lang="en-US" sz="4500" dirty="0"/>
          </a:p>
        </p:txBody>
      </p:sp>
      <p:sp>
        <p:nvSpPr>
          <p:cNvPr id="6" name="workflow-subtitle"/>
          <p:cNvSpPr/>
          <p:nvPr/>
        </p:nvSpPr>
        <p:spPr>
          <a:xfrm>
            <a:off x="762000" y="2336800"/>
            <a:ext cx="1181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 suspicious event to an explainable, human-controlled response.</a:t>
            </a:r>
            <a:endParaRPr lang="en-US" sz="1900" dirty="0"/>
          </a:p>
        </p:txBody>
      </p:sp>
      <p:sp>
        <p:nvSpPr>
          <p:cNvPr id="7" name="workflow-stage-one"/>
          <p:cNvSpPr/>
          <p:nvPr/>
        </p:nvSpPr>
        <p:spPr>
          <a:xfrm>
            <a:off x="762000" y="3378200"/>
            <a:ext cx="2463800" cy="2159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8" name="workflow-stage-one-edge"/>
          <p:cNvSpPr/>
          <p:nvPr/>
        </p:nvSpPr>
        <p:spPr>
          <a:xfrm>
            <a:off x="762000" y="3378200"/>
            <a:ext cx="24638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pic>
        <p:nvPicPr>
          <p:cNvPr id="9" name="workflow-stage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683000"/>
            <a:ext cx="406400" cy="406400"/>
          </a:xfrm>
          <a:prstGeom prst="rect">
            <a:avLst/>
          </a:prstGeom>
        </p:spPr>
      </p:pic>
      <p:sp>
        <p:nvSpPr>
          <p:cNvPr id="10" name="workflow-stage-one-label"/>
          <p:cNvSpPr/>
          <p:nvPr/>
        </p:nvSpPr>
        <p:spPr>
          <a:xfrm>
            <a:off x="1066800" y="4267200"/>
            <a:ext cx="184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Multimodal input</a:t>
            </a:r>
            <a:endParaRPr lang="en-US" sz="2000" dirty="0"/>
          </a:p>
        </p:txBody>
      </p:sp>
      <p:sp>
        <p:nvSpPr>
          <p:cNvPr id="11" name="workflow-stage-one-body"/>
          <p:cNvSpPr/>
          <p:nvPr/>
        </p:nvSpPr>
        <p:spPr>
          <a:xfrm>
            <a:off x="1066800" y="4686300"/>
            <a:ext cx="1841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· voice · video · network</a:t>
            </a:r>
            <a:endParaRPr lang="en-US" sz="1500" dirty="0"/>
          </a:p>
        </p:txBody>
      </p:sp>
      <p:sp>
        <p:nvSpPr>
          <p:cNvPr id="12" name="workflow-arrow-one"/>
          <p:cNvSpPr/>
          <p:nvPr/>
        </p:nvSpPr>
        <p:spPr>
          <a:xfrm>
            <a:off x="3276600" y="4445000"/>
            <a:ext cx="355600" cy="9144"/>
          </a:xfrm>
          <a:prstGeom prst="line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13" name="workflow-stage-two"/>
          <p:cNvSpPr/>
          <p:nvPr/>
        </p:nvSpPr>
        <p:spPr>
          <a:xfrm>
            <a:off x="3683000" y="3378200"/>
            <a:ext cx="2463800" cy="2159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14" name="workflow-stage-two-edge"/>
          <p:cNvSpPr/>
          <p:nvPr/>
        </p:nvSpPr>
        <p:spPr>
          <a:xfrm>
            <a:off x="3683000" y="3378200"/>
            <a:ext cx="24638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pic>
        <p:nvPicPr>
          <p:cNvPr id="15" name="workflow-stage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800" y="3683000"/>
            <a:ext cx="406400" cy="406400"/>
          </a:xfrm>
          <a:prstGeom prst="rect">
            <a:avLst/>
          </a:prstGeom>
        </p:spPr>
      </p:pic>
      <p:sp>
        <p:nvSpPr>
          <p:cNvPr id="16" name="workflow-stage-two-label"/>
          <p:cNvSpPr/>
          <p:nvPr/>
        </p:nvSpPr>
        <p:spPr>
          <a:xfrm>
            <a:off x="3987800" y="4267200"/>
            <a:ext cx="184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ingest</a:t>
            </a:r>
            <a:endParaRPr lang="en-US" sz="2000" dirty="0"/>
          </a:p>
        </p:txBody>
      </p:sp>
      <p:sp>
        <p:nvSpPr>
          <p:cNvPr id="17" name="workflow-stage-two-body"/>
          <p:cNvSpPr/>
          <p:nvPr/>
        </p:nvSpPr>
        <p:spPr>
          <a:xfrm>
            <a:off x="3987800" y="4686300"/>
            <a:ext cx="1841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· URLs · metadata · media features</a:t>
            </a:r>
            <a:endParaRPr lang="en-US" sz="1500" dirty="0"/>
          </a:p>
        </p:txBody>
      </p:sp>
      <p:sp>
        <p:nvSpPr>
          <p:cNvPr id="18" name="workflow-arrow-two"/>
          <p:cNvSpPr/>
          <p:nvPr/>
        </p:nvSpPr>
        <p:spPr>
          <a:xfrm>
            <a:off x="6197600" y="4445000"/>
            <a:ext cx="355600" cy="9144"/>
          </a:xfrm>
          <a:prstGeom prst="line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19" name="workflow-stage-three"/>
          <p:cNvSpPr/>
          <p:nvPr/>
        </p:nvSpPr>
        <p:spPr>
          <a:xfrm>
            <a:off x="6604000" y="3378200"/>
            <a:ext cx="2717800" cy="2159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20" name="workflow-stage-three-edge"/>
          <p:cNvSpPr/>
          <p:nvPr/>
        </p:nvSpPr>
        <p:spPr>
          <a:xfrm>
            <a:off x="6604000" y="3378200"/>
            <a:ext cx="27178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pic>
        <p:nvPicPr>
          <p:cNvPr id="21" name="workflow-stage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00" y="3683000"/>
            <a:ext cx="406400" cy="406400"/>
          </a:xfrm>
          <a:prstGeom prst="rect">
            <a:avLst/>
          </a:prstGeom>
        </p:spPr>
      </p:pic>
      <p:sp>
        <p:nvSpPr>
          <p:cNvPr id="22" name="workflow-stage-three-label"/>
          <p:cNvSpPr/>
          <p:nvPr/>
        </p:nvSpPr>
        <p:spPr>
          <a:xfrm>
            <a:off x="6908800" y="4267200"/>
            <a:ext cx="2095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Parallel verification</a:t>
            </a:r>
            <a:endParaRPr lang="en-US" sz="2000" dirty="0"/>
          </a:p>
        </p:txBody>
      </p:sp>
      <p:sp>
        <p:nvSpPr>
          <p:cNvPr id="23" name="workflow-stage-three-body"/>
          <p:cNvSpPr/>
          <p:nvPr/>
        </p:nvSpPr>
        <p:spPr>
          <a:xfrm>
            <a:off x="6908800" y="4686300"/>
            <a:ext cx="2095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Phishing · deepfake · digital twin · threat checks</a:t>
            </a:r>
            <a:endParaRPr lang="en-US" sz="1500" dirty="0"/>
          </a:p>
        </p:txBody>
      </p:sp>
      <p:sp>
        <p:nvSpPr>
          <p:cNvPr id="24" name="workflow-arrow-three"/>
          <p:cNvSpPr/>
          <p:nvPr/>
        </p:nvSpPr>
        <p:spPr>
          <a:xfrm>
            <a:off x="9372600" y="4445000"/>
            <a:ext cx="355600" cy="9144"/>
          </a:xfrm>
          <a:prstGeom prst="line">
            <a:avLst/>
          </a:prstGeom>
          <a:ln w="12700">
            <a:solidFill>
              <a:srgbClr val="00E5FF"/>
            </a:solidFill>
            <a:prstDash val="solid"/>
          </a:ln>
        </p:spPr>
      </p:sp>
      <p:sp>
        <p:nvSpPr>
          <p:cNvPr id="25" name="workflow-stage-four"/>
          <p:cNvSpPr/>
          <p:nvPr/>
        </p:nvSpPr>
        <p:spPr>
          <a:xfrm>
            <a:off x="9779000" y="3378200"/>
            <a:ext cx="2463800" cy="2159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26" name="workflow-stage-four-edge"/>
          <p:cNvSpPr/>
          <p:nvPr/>
        </p:nvSpPr>
        <p:spPr>
          <a:xfrm>
            <a:off x="9779000" y="3378200"/>
            <a:ext cx="2463800" cy="9144"/>
          </a:xfrm>
          <a:prstGeom prst="line">
            <a:avLst/>
          </a:prstGeom>
          <a:ln w="38100">
            <a:solidFill>
              <a:srgbClr val="00E5FF"/>
            </a:solidFill>
            <a:prstDash val="solid"/>
          </a:ln>
        </p:spPr>
      </p:sp>
      <p:pic>
        <p:nvPicPr>
          <p:cNvPr id="27" name="workflow-stage-four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3800" y="3683000"/>
            <a:ext cx="406400" cy="406400"/>
          </a:xfrm>
          <a:prstGeom prst="rect">
            <a:avLst/>
          </a:prstGeom>
        </p:spPr>
      </p:pic>
      <p:sp>
        <p:nvSpPr>
          <p:cNvPr id="28" name="workflow-stage-four-label"/>
          <p:cNvSpPr/>
          <p:nvPr/>
        </p:nvSpPr>
        <p:spPr>
          <a:xfrm>
            <a:off x="10083800" y="4267200"/>
            <a:ext cx="18415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Attack Graph</a:t>
            </a:r>
            <a:endParaRPr lang="en-US" sz="2000" dirty="0"/>
          </a:p>
        </p:txBody>
      </p:sp>
      <p:sp>
        <p:nvSpPr>
          <p:cNvPr id="29" name="workflow-stage-four-body"/>
          <p:cNvSpPr/>
          <p:nvPr/>
        </p:nvSpPr>
        <p:spPr>
          <a:xfrm>
            <a:off x="10083800" y="4686300"/>
            <a:ext cx="1841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identities, assets, and prior alerts</a:t>
            </a:r>
            <a:endParaRPr lang="en-US" sz="1500" dirty="0"/>
          </a:p>
        </p:txBody>
      </p:sp>
      <p:sp>
        <p:nvSpPr>
          <p:cNvPr id="30" name="workflow-arrow-four"/>
          <p:cNvSpPr/>
          <p:nvPr/>
        </p:nvSpPr>
        <p:spPr>
          <a:xfrm>
            <a:off x="12293600" y="4445000"/>
            <a:ext cx="355600" cy="9144"/>
          </a:xfrm>
          <a:prstGeom prst="line">
            <a:avLst/>
          </a:prstGeom>
          <a:ln w="12700">
            <a:solidFill>
              <a:srgbClr val="FFB300"/>
            </a:solidFill>
            <a:prstDash val="solid"/>
          </a:ln>
        </p:spPr>
      </p:sp>
      <p:sp>
        <p:nvSpPr>
          <p:cNvPr id="31" name="workflow-stage-five"/>
          <p:cNvSpPr/>
          <p:nvPr/>
        </p:nvSpPr>
        <p:spPr>
          <a:xfrm>
            <a:off x="12700000" y="3378200"/>
            <a:ext cx="2794000" cy="21590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workflow-stage-five-edge"/>
          <p:cNvSpPr/>
          <p:nvPr/>
        </p:nvSpPr>
        <p:spPr>
          <a:xfrm>
            <a:off x="12700000" y="3378200"/>
            <a:ext cx="2794000" cy="9144"/>
          </a:xfrm>
          <a:prstGeom prst="line">
            <a:avLst/>
          </a:prstGeom>
          <a:ln w="38100">
            <a:solidFill>
              <a:srgbClr val="FFB300"/>
            </a:solidFill>
            <a:prstDash val="solid"/>
          </a:ln>
        </p:spPr>
      </p:sp>
      <p:pic>
        <p:nvPicPr>
          <p:cNvPr id="33" name="workflow-stage-five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04800" y="3683000"/>
            <a:ext cx="406400" cy="406400"/>
          </a:xfrm>
          <a:prstGeom prst="rect">
            <a:avLst/>
          </a:prstGeom>
        </p:spPr>
      </p:pic>
      <p:sp>
        <p:nvSpPr>
          <p:cNvPr id="34" name="workflow-stage-five-label"/>
          <p:cNvSpPr/>
          <p:nvPr/>
        </p:nvSpPr>
        <p:spPr>
          <a:xfrm>
            <a:off x="13004800" y="4267200"/>
            <a:ext cx="215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0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+ response</a:t>
            </a:r>
            <a:endParaRPr lang="en-US" sz="2000" dirty="0"/>
          </a:p>
        </p:txBody>
      </p:sp>
      <p:sp>
        <p:nvSpPr>
          <p:cNvPr id="35" name="workflow-stage-five-body"/>
          <p:cNvSpPr/>
          <p:nvPr/>
        </p:nvSpPr>
        <p:spPr>
          <a:xfrm>
            <a:off x="13004800" y="4686300"/>
            <a:ext cx="2159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score · select safe playbook · approve</a:t>
            </a:r>
            <a:endParaRPr lang="en-US" sz="1500" dirty="0"/>
          </a:p>
        </p:txBody>
      </p:sp>
      <p:sp>
        <p:nvSpPr>
          <p:cNvPr id="36" name="workflow-downline"/>
          <p:cNvSpPr/>
          <p:nvPr/>
        </p:nvSpPr>
        <p:spPr>
          <a:xfrm>
            <a:off x="14097000" y="5588000"/>
            <a:ext cx="9144" cy="609600"/>
          </a:xfrm>
          <a:prstGeom prst="line">
            <a:avLst/>
          </a:prstGeom>
          <a:ln w="25400">
            <a:solidFill>
              <a:srgbClr val="00E5FF"/>
            </a:solidFill>
            <a:prstDash val="solid"/>
            <a:tailEnd type="triangle"/>
          </a:ln>
        </p:spPr>
      </p:sp>
      <p:sp>
        <p:nvSpPr>
          <p:cNvPr id="37" name="workflow-dashboard"/>
          <p:cNvSpPr/>
          <p:nvPr/>
        </p:nvSpPr>
        <p:spPr>
          <a:xfrm>
            <a:off x="2857500" y="6502400"/>
            <a:ext cx="10541000" cy="1041400"/>
          </a:xfrm>
          <a:prstGeom prst="rect">
            <a:avLst/>
          </a:prstGeom>
          <a:solidFill>
            <a:srgbClr val="141C2F">
              <a:alpha val="8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38" name="workflow-dashboard-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6807200"/>
            <a:ext cx="381000" cy="381000"/>
          </a:xfrm>
          <a:prstGeom prst="rect">
            <a:avLst/>
          </a:prstGeom>
        </p:spPr>
      </p:pic>
      <p:sp>
        <p:nvSpPr>
          <p:cNvPr id="39" name="workflow-dashboard-title"/>
          <p:cNvSpPr/>
          <p:nvPr/>
        </p:nvSpPr>
        <p:spPr>
          <a:xfrm>
            <a:off x="3962400" y="6743700"/>
            <a:ext cx="393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Dashboard + AI Copilot</a:t>
            </a:r>
            <a:endParaRPr lang="en-US" sz="2100" dirty="0"/>
          </a:p>
        </p:txBody>
      </p:sp>
      <p:sp>
        <p:nvSpPr>
          <p:cNvPr id="40" name="workflow-dashboard-body"/>
          <p:cNvSpPr/>
          <p:nvPr/>
        </p:nvSpPr>
        <p:spPr>
          <a:xfrm>
            <a:off x="3962400" y="7112000"/>
            <a:ext cx="838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score · evidence · attack graph · reason codes · recommended action</a:t>
            </a:r>
            <a:endParaRPr lang="en-US" sz="1600" dirty="0"/>
          </a:p>
        </p:txBody>
      </p:sp>
      <p:sp>
        <p:nvSpPr>
          <p:cNvPr id="41" name="workflow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SEC-05 // WORKFLOW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graph-section"/>
          <p:cNvSpPr/>
          <p:nvPr/>
        </p:nvSpPr>
        <p:spPr>
          <a:xfrm>
            <a:off x="762000" y="9144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// CORRELATION LAYER</a:t>
            </a:r>
            <a:endParaRPr lang="en-US" sz="1300" dirty="0"/>
          </a:p>
        </p:txBody>
      </p:sp>
      <p:sp>
        <p:nvSpPr>
          <p:cNvPr id="4" name="graph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graph-title"/>
          <p:cNvSpPr/>
          <p:nvPr/>
        </p:nvSpPr>
        <p:spPr>
          <a:xfrm>
            <a:off x="762000" y="1498600"/>
            <a:ext cx="5715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76"/>
              </a:lnSpc>
              <a:buNone/>
            </a:pPr>
            <a:r>
              <a:rPr lang="en-US" altLang="en-US" sz="4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attack graph is the system’s memory</a:t>
            </a:r>
            <a:endParaRPr lang="en-US" sz="4400" dirty="0"/>
          </a:p>
        </p:txBody>
      </p:sp>
      <p:sp>
        <p:nvSpPr>
          <p:cNvPr id="6" name="graph-insight"/>
          <p:cNvSpPr/>
          <p:nvPr/>
        </p:nvSpPr>
        <p:spPr>
          <a:xfrm>
            <a:off x="762000" y="3310890"/>
            <a:ext cx="5207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70"/>
              </a:lnSpc>
              <a:buNone/>
            </a:pPr>
            <a:r>
              <a:rPr lang="en-US" altLang="en-US" sz="19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event is uncertain. Connected evidence is actionable.</a:t>
            </a:r>
            <a:endParaRPr lang="en-US" sz="1900" dirty="0"/>
          </a:p>
        </p:txBody>
      </p:sp>
      <p:pic>
        <p:nvPicPr>
          <p:cNvPr id="7" name="graph-callout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81500"/>
            <a:ext cx="355600" cy="355600"/>
          </a:xfrm>
          <a:prstGeom prst="rect">
            <a:avLst/>
          </a:prstGeom>
        </p:spPr>
      </p:pic>
      <p:sp>
        <p:nvSpPr>
          <p:cNvPr id="8" name="graph-callout-one-title"/>
          <p:cNvSpPr/>
          <p:nvPr/>
        </p:nvSpPr>
        <p:spPr>
          <a:xfrm>
            <a:off x="1346200" y="4318000"/>
            <a:ext cx="355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Correlation</a:t>
            </a:r>
            <a:endParaRPr lang="en-US" sz="2100" dirty="0"/>
          </a:p>
        </p:txBody>
      </p:sp>
      <p:sp>
        <p:nvSpPr>
          <p:cNvPr id="9" name="graph-callout-one-body"/>
          <p:cNvSpPr/>
          <p:nvPr/>
        </p:nvSpPr>
        <p:spPr>
          <a:xfrm>
            <a:off x="1346200" y="46863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shared infrastructure, repeated targeting, and campaign overlap.</a:t>
            </a:r>
            <a:endParaRPr lang="en-US" sz="1600" dirty="0"/>
          </a:p>
        </p:txBody>
      </p:sp>
      <p:pic>
        <p:nvPicPr>
          <p:cNvPr id="10" name="graph-callout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588000"/>
            <a:ext cx="355600" cy="355600"/>
          </a:xfrm>
          <a:prstGeom prst="rect">
            <a:avLst/>
          </a:prstGeom>
        </p:spPr>
      </p:pic>
      <p:sp>
        <p:nvSpPr>
          <p:cNvPr id="11" name="graph-callout-two-title"/>
          <p:cNvSpPr/>
          <p:nvPr/>
        </p:nvSpPr>
        <p:spPr>
          <a:xfrm>
            <a:off x="1346200" y="5524500"/>
            <a:ext cx="355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Context</a:t>
            </a:r>
            <a:endParaRPr lang="en-US" sz="2100" dirty="0"/>
          </a:p>
        </p:txBody>
      </p:sp>
      <p:sp>
        <p:nvSpPr>
          <p:cNvPr id="12" name="graph-callout-two-body"/>
          <p:cNvSpPr/>
          <p:nvPr/>
        </p:nvSpPr>
        <p:spPr>
          <a:xfrm>
            <a:off x="1346200" y="58928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identity anomalies and business impact to technical signals.</a:t>
            </a:r>
            <a:endParaRPr lang="en-US" sz="1600" dirty="0"/>
          </a:p>
        </p:txBody>
      </p:sp>
      <p:pic>
        <p:nvPicPr>
          <p:cNvPr id="13" name="graph-callout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6794500"/>
            <a:ext cx="355600" cy="355600"/>
          </a:xfrm>
          <a:prstGeom prst="rect">
            <a:avLst/>
          </a:prstGeom>
        </p:spPr>
      </p:pic>
      <p:sp>
        <p:nvSpPr>
          <p:cNvPr id="14" name="graph-callout-three-title"/>
          <p:cNvSpPr/>
          <p:nvPr/>
        </p:nvSpPr>
        <p:spPr>
          <a:xfrm>
            <a:off x="1346200" y="6731000"/>
            <a:ext cx="3556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1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Explanation</a:t>
            </a:r>
            <a:endParaRPr lang="en-US" sz="2100" dirty="0"/>
          </a:p>
        </p:txBody>
      </p:sp>
      <p:sp>
        <p:nvSpPr>
          <p:cNvPr id="15" name="graph-callout-three-body"/>
          <p:cNvSpPr/>
          <p:nvPr/>
        </p:nvSpPr>
        <p:spPr>
          <a:xfrm>
            <a:off x="1346200" y="70993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analysts why the risk score increased and what to do next.</a:t>
            </a:r>
            <a:endParaRPr lang="en-US" sz="1600" dirty="0"/>
          </a:p>
        </p:txBody>
      </p:sp>
      <p:sp>
        <p:nvSpPr>
          <p:cNvPr id="16" name="graph-visual-panel"/>
          <p:cNvSpPr/>
          <p:nvPr/>
        </p:nvSpPr>
        <p:spPr>
          <a:xfrm>
            <a:off x="6604000" y="2159000"/>
            <a:ext cx="8890000" cy="5334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7" name="graph-visual" descr="preencoded.png"/>
          <p:cNvPicPr>
            <a:picLocks noChangeAspect="1"/>
          </p:cNvPicPr>
          <p:nvPr/>
        </p:nvPicPr>
        <p:blipFill>
          <a:blip r:embed="rId6">
            <a:alphaModFix amt="95000"/>
          </a:blip>
          <a:srcRect l="3098" r="3098"/>
          <a:stretch/>
        </p:blipFill>
        <p:spPr>
          <a:xfrm>
            <a:off x="6604000" y="2159000"/>
            <a:ext cx="8890000" cy="5334000"/>
          </a:xfrm>
          <a:prstGeom prst="rect">
            <a:avLst/>
          </a:prstGeom>
        </p:spPr>
      </p:pic>
      <p:sp>
        <p:nvSpPr>
          <p:cNvPr id="18" name="graph-visual-frame"/>
          <p:cNvSpPr/>
          <p:nvPr/>
        </p:nvSpPr>
        <p:spPr>
          <a:xfrm>
            <a:off x="6604000" y="2159000"/>
            <a:ext cx="8890000" cy="5334000"/>
          </a:xfrm>
          <a:prstGeom prst="rect">
            <a:avLst/>
          </a:prstGeom>
          <a:ln w="12700">
            <a:solidFill>
              <a:srgbClr val="00E5FF">
                <a:alpha val="65000"/>
              </a:srgbClr>
            </a:solidFill>
            <a:prstDash val="solid"/>
          </a:ln>
        </p:spPr>
      </p:sp>
      <p:sp>
        <p:nvSpPr>
          <p:cNvPr id="19" name="graph-risk-card"/>
          <p:cNvSpPr/>
          <p:nvPr/>
        </p:nvSpPr>
        <p:spPr>
          <a:xfrm>
            <a:off x="10490200" y="6223000"/>
            <a:ext cx="3810000" cy="863600"/>
          </a:xfrm>
          <a:prstGeom prst="rect">
            <a:avLst/>
          </a:prstGeom>
          <a:solidFill>
            <a:srgbClr val="141C2F">
              <a:alpha val="9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0" name="graph-risk-card-label"/>
          <p:cNvSpPr/>
          <p:nvPr/>
        </p:nvSpPr>
        <p:spPr>
          <a:xfrm>
            <a:off x="10795000" y="64008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CORRELATED INCIDENT</a:t>
            </a:r>
            <a:endParaRPr lang="en-US" sz="1200" dirty="0"/>
          </a:p>
        </p:txBody>
      </p:sp>
      <p:sp>
        <p:nvSpPr>
          <p:cNvPr id="21" name="graph-risk-card-title"/>
          <p:cNvSpPr/>
          <p:nvPr/>
        </p:nvSpPr>
        <p:spPr>
          <a:xfrm>
            <a:off x="10795000" y="67183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HIGH-RISK CFO IMPERSONATION</a:t>
            </a:r>
            <a:endParaRPr lang="en-US" sz="1800" dirty="0"/>
          </a:p>
        </p:txBody>
      </p:sp>
      <p:sp>
        <p:nvSpPr>
          <p:cNvPr id="22" name="graph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SEC-06 // ATTACK GRAPH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ck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tack-section"/>
          <p:cNvSpPr/>
          <p:nvPr/>
        </p:nvSpPr>
        <p:spPr>
          <a:xfrm>
            <a:off x="762000" y="9144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04 // TECHNOLOGIES + TOOLS</a:t>
            </a:r>
            <a:endParaRPr lang="en-US" sz="1300" dirty="0"/>
          </a:p>
        </p:txBody>
      </p:sp>
      <p:sp>
        <p:nvSpPr>
          <p:cNvPr id="4" name="stack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stack-title"/>
          <p:cNvSpPr/>
          <p:nvPr/>
        </p:nvSpPr>
        <p:spPr>
          <a:xfrm>
            <a:off x="762000" y="1498600"/>
            <a:ext cx="12319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feasible prototype stack maps directly to the workflow</a:t>
            </a:r>
            <a:endParaRPr lang="en-US" sz="4300" dirty="0"/>
          </a:p>
        </p:txBody>
      </p:sp>
      <p:sp>
        <p:nvSpPr>
          <p:cNvPr id="6" name="stack-subtitle"/>
          <p:cNvSpPr/>
          <p:nvPr/>
        </p:nvSpPr>
        <p:spPr>
          <a:xfrm>
            <a:off x="762000" y="2311400"/>
            <a:ext cx="889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by design—each layer can be built, tested, and demonstrated independently.</a:t>
            </a:r>
            <a:endParaRPr lang="en-US" sz="1800" dirty="0"/>
          </a:p>
        </p:txBody>
      </p:sp>
      <p:sp>
        <p:nvSpPr>
          <p:cNvPr id="7" name="stack-layer-one"/>
          <p:cNvSpPr/>
          <p:nvPr/>
        </p:nvSpPr>
        <p:spPr>
          <a:xfrm>
            <a:off x="762000" y="3048000"/>
            <a:ext cx="8890000" cy="68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8" name="stack-layer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3213100"/>
            <a:ext cx="355600" cy="355600"/>
          </a:xfrm>
          <a:prstGeom prst="rect">
            <a:avLst/>
          </a:prstGeom>
        </p:spPr>
      </p:pic>
      <p:sp>
        <p:nvSpPr>
          <p:cNvPr id="9" name="stack-layer-one-name"/>
          <p:cNvSpPr/>
          <p:nvPr/>
        </p:nvSpPr>
        <p:spPr>
          <a:xfrm>
            <a:off x="1651000" y="3213100"/>
            <a:ext cx="1905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Experience</a:t>
            </a:r>
            <a:endParaRPr lang="en-US" sz="1900" dirty="0"/>
          </a:p>
        </p:txBody>
      </p:sp>
      <p:sp>
        <p:nvSpPr>
          <p:cNvPr id="10" name="stack-layer-one-tools"/>
          <p:cNvSpPr/>
          <p:nvPr/>
        </p:nvSpPr>
        <p:spPr>
          <a:xfrm>
            <a:off x="3937000" y="3213100"/>
            <a:ext cx="520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React 19 · TypeScript · Vite · Tailwind CSS · SVG Topology</a:t>
            </a:r>
            <a:endParaRPr lang="en-US" sz="1700" dirty="0"/>
          </a:p>
        </p:txBody>
      </p:sp>
      <p:sp>
        <p:nvSpPr>
          <p:cNvPr id="11" name="stack-layer-two"/>
          <p:cNvSpPr/>
          <p:nvPr/>
        </p:nvSpPr>
        <p:spPr>
          <a:xfrm>
            <a:off x="762000" y="3898900"/>
            <a:ext cx="8890000" cy="68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2" name="stack-layer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400" y="4064000"/>
            <a:ext cx="355600" cy="355600"/>
          </a:xfrm>
          <a:prstGeom prst="rect">
            <a:avLst/>
          </a:prstGeom>
        </p:spPr>
      </p:pic>
      <p:sp>
        <p:nvSpPr>
          <p:cNvPr id="13" name="stack-layer-two-name"/>
          <p:cNvSpPr/>
          <p:nvPr/>
        </p:nvSpPr>
        <p:spPr>
          <a:xfrm>
            <a:off x="1651000" y="4064000"/>
            <a:ext cx="1905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Orchestration</a:t>
            </a:r>
            <a:endParaRPr lang="en-US" sz="1900" dirty="0"/>
          </a:p>
        </p:txBody>
      </p:sp>
      <p:sp>
        <p:nvSpPr>
          <p:cNvPr id="14" name="stack-layer-two-tools"/>
          <p:cNvSpPr/>
          <p:nvPr/>
        </p:nvSpPr>
        <p:spPr>
          <a:xfrm>
            <a:off x="3937000" y="4064000"/>
            <a:ext cx="520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Node.js &amp; Express Gateway · REST APIs</a:t>
            </a:r>
            <a:endParaRPr lang="en-US" sz="1700" dirty="0"/>
          </a:p>
        </p:txBody>
      </p:sp>
      <p:sp>
        <p:nvSpPr>
          <p:cNvPr id="15" name="stack-layer-three"/>
          <p:cNvSpPr/>
          <p:nvPr/>
        </p:nvSpPr>
        <p:spPr>
          <a:xfrm>
            <a:off x="762000" y="4749800"/>
            <a:ext cx="8890000" cy="68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16" name="stack-layer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400" y="4914900"/>
            <a:ext cx="355600" cy="355600"/>
          </a:xfrm>
          <a:prstGeom prst="rect">
            <a:avLst/>
          </a:prstGeom>
        </p:spPr>
      </p:pic>
      <p:sp>
        <p:nvSpPr>
          <p:cNvPr id="17" name="stack-layer-three-name"/>
          <p:cNvSpPr/>
          <p:nvPr/>
        </p:nvSpPr>
        <p:spPr>
          <a:xfrm>
            <a:off x="1651000" y="4914900"/>
            <a:ext cx="1905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Intelligence</a:t>
            </a:r>
            <a:endParaRPr lang="en-US" sz="1900" dirty="0"/>
          </a:p>
        </p:txBody>
      </p:sp>
      <p:sp>
        <p:nvSpPr>
          <p:cNvPr id="18" name="stack-layer-three-tools"/>
          <p:cNvSpPr/>
          <p:nvPr/>
        </p:nvSpPr>
        <p:spPr>
          <a:xfrm>
            <a:off x="3937000" y="4914900"/>
            <a:ext cx="520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5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 / Transformers · librosa / SpeechBrain · OpenCV / MediaPipe</a:t>
            </a:r>
            <a:endParaRPr lang="en-US" sz="1500" dirty="0"/>
          </a:p>
        </p:txBody>
      </p:sp>
      <p:sp>
        <p:nvSpPr>
          <p:cNvPr id="19" name="stack-layer-four"/>
          <p:cNvSpPr/>
          <p:nvPr/>
        </p:nvSpPr>
        <p:spPr>
          <a:xfrm>
            <a:off x="762000" y="5600700"/>
            <a:ext cx="8890000" cy="68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20" name="stack-layer-four-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1400" y="5765800"/>
            <a:ext cx="355600" cy="355600"/>
          </a:xfrm>
          <a:prstGeom prst="rect">
            <a:avLst/>
          </a:prstGeom>
        </p:spPr>
      </p:pic>
      <p:sp>
        <p:nvSpPr>
          <p:cNvPr id="21" name="stack-layer-four-name"/>
          <p:cNvSpPr/>
          <p:nvPr/>
        </p:nvSpPr>
        <p:spPr>
          <a:xfrm>
            <a:off x="1651000" y="5765800"/>
            <a:ext cx="1905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Correlation</a:t>
            </a:r>
            <a:endParaRPr lang="en-US" sz="1900" dirty="0"/>
          </a:p>
        </p:txBody>
      </p:sp>
      <p:sp>
        <p:nvSpPr>
          <p:cNvPr id="22" name="stack-layer-four-tools"/>
          <p:cNvSpPr/>
          <p:nvPr/>
        </p:nvSpPr>
        <p:spPr>
          <a:xfrm>
            <a:off x="3937000" y="5765800"/>
            <a:ext cx="520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NetworkX · threat rules · Digital Twin profiles</a:t>
            </a:r>
            <a:endParaRPr lang="en-US" sz="1700" dirty="0"/>
          </a:p>
        </p:txBody>
      </p:sp>
      <p:sp>
        <p:nvSpPr>
          <p:cNvPr id="23" name="stack-layer-five"/>
          <p:cNvSpPr/>
          <p:nvPr/>
        </p:nvSpPr>
        <p:spPr>
          <a:xfrm>
            <a:off x="762000" y="6451600"/>
            <a:ext cx="8890000" cy="685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pic>
        <p:nvPicPr>
          <p:cNvPr id="24" name="stack-layer-five-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00" y="6616700"/>
            <a:ext cx="355600" cy="355600"/>
          </a:xfrm>
          <a:prstGeom prst="rect">
            <a:avLst/>
          </a:prstGeom>
        </p:spPr>
      </p:pic>
      <p:sp>
        <p:nvSpPr>
          <p:cNvPr id="25" name="stack-layer-five-name"/>
          <p:cNvSpPr/>
          <p:nvPr/>
        </p:nvSpPr>
        <p:spPr>
          <a:xfrm>
            <a:off x="1651000" y="6616700"/>
            <a:ext cx="1905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+ deployment</a:t>
            </a:r>
            <a:endParaRPr lang="en-US" sz="1900" dirty="0"/>
          </a:p>
        </p:txBody>
      </p:sp>
      <p:sp>
        <p:nvSpPr>
          <p:cNvPr id="26" name="stack-layer-five-tools"/>
          <p:cNvSpPr/>
          <p:nvPr/>
        </p:nvSpPr>
        <p:spPr>
          <a:xfrm>
            <a:off x="3937000" y="6616700"/>
            <a:ext cx="52070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Vercel Cloud CI/CD · Encrypted Browser Persistence</a:t>
            </a:r>
            <a:endParaRPr lang="en-US" sz="1700" dirty="0"/>
          </a:p>
        </p:txBody>
      </p:sp>
      <p:sp>
        <p:nvSpPr>
          <p:cNvPr id="27" name="stack-mvp-card"/>
          <p:cNvSpPr/>
          <p:nvPr/>
        </p:nvSpPr>
        <p:spPr>
          <a:xfrm>
            <a:off x="10287000" y="3048000"/>
            <a:ext cx="5207000" cy="40894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B300"/>
            </a:solidFill>
            <a:prstDash val="solid"/>
          </a:ln>
        </p:spPr>
        <p:txBody>
          <a:bodyPr/>
          <a:p/>
        </p:txBody>
      </p:sp>
      <p:sp>
        <p:nvSpPr>
          <p:cNvPr id="28" name="stack-mvp-label"/>
          <p:cNvSpPr/>
          <p:nvPr/>
        </p:nvSpPr>
        <p:spPr>
          <a:xfrm>
            <a:off x="10668000" y="3429000"/>
            <a:ext cx="4191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HACKATHON MVP BOUNDARY</a:t>
            </a:r>
            <a:endParaRPr lang="en-US" sz="1300" dirty="0"/>
          </a:p>
        </p:txBody>
      </p:sp>
      <p:sp>
        <p:nvSpPr>
          <p:cNvPr id="29" name="stack-mvp-title"/>
          <p:cNvSpPr/>
          <p:nvPr/>
        </p:nvSpPr>
        <p:spPr>
          <a:xfrm>
            <a:off x="10668000" y="3911600"/>
            <a:ext cx="419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27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the decision engine first</a:t>
            </a:r>
            <a:endParaRPr lang="en-US" sz="2700" dirty="0"/>
          </a:p>
        </p:txBody>
      </p:sp>
      <p:sp>
        <p:nvSpPr>
          <p:cNvPr id="30" name="stack-mvp-body"/>
          <p:cNvSpPr/>
          <p:nvPr/>
        </p:nvSpPr>
        <p:spPr>
          <a:xfrm>
            <a:off x="10668000" y="4889500"/>
            <a:ext cx="40640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 phishing and URL analysis, audio indicators, identity rules, attack graph, explainable risk scoring, dashboard, and response simulation.</a:t>
            </a:r>
            <a:endParaRPr lang="en-US" sz="1700" dirty="0"/>
          </a:p>
        </p:txBody>
      </p:sp>
      <p:sp>
        <p:nvSpPr>
          <p:cNvPr id="31" name="stack-mvp-divider"/>
          <p:cNvSpPr/>
          <p:nvPr/>
        </p:nvSpPr>
        <p:spPr>
          <a:xfrm>
            <a:off x="10668000" y="6337300"/>
            <a:ext cx="4064000" cy="9144"/>
          </a:xfrm>
          <a:prstGeom prst="line">
            <a:avLst/>
          </a:prstGeom>
          <a:ln w="12700">
            <a:solidFill>
              <a:srgbClr val="23304C"/>
            </a:solidFill>
            <a:prstDash val="solid"/>
          </a:ln>
        </p:spPr>
        <p:txBody>
          <a:bodyPr/>
          <a:p/>
        </p:txBody>
      </p:sp>
      <p:sp>
        <p:nvSpPr>
          <p:cNvPr id="32" name="stack-mvp-foot"/>
          <p:cNvSpPr/>
          <p:nvPr/>
        </p:nvSpPr>
        <p:spPr>
          <a:xfrm>
            <a:off x="10668000" y="6604000"/>
            <a:ext cx="406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analysis remains modular with sample input.</a:t>
            </a:r>
            <a:endParaRPr lang="en-US" sz="1600" dirty="0"/>
          </a:p>
        </p:txBody>
      </p:sp>
      <p:sp>
        <p:nvSpPr>
          <p:cNvPr id="33" name="stack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SEC-07 // STACK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gorithm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algorithm-section"/>
          <p:cNvSpPr/>
          <p:nvPr/>
        </p:nvSpPr>
        <p:spPr>
          <a:xfrm>
            <a:off x="762000" y="914400"/>
            <a:ext cx="711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05 // PSEUDOCODE + ALGORITHM</a:t>
            </a:r>
            <a:endParaRPr lang="en-US" sz="1300" dirty="0"/>
          </a:p>
        </p:txBody>
      </p:sp>
      <p:sp>
        <p:nvSpPr>
          <p:cNvPr id="4" name="algorithm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algorithm-title"/>
          <p:cNvSpPr/>
          <p:nvPr/>
        </p:nvSpPr>
        <p:spPr>
          <a:xfrm>
            <a:off x="762000" y="1498600"/>
            <a:ext cx="12954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algorithm fuses evidence before choosing action</a:t>
            </a:r>
            <a:endParaRPr lang="en-US" sz="4300" dirty="0"/>
          </a:p>
        </p:txBody>
      </p:sp>
      <p:sp>
        <p:nvSpPr>
          <p:cNvPr id="6" name="algorithm-subtitle"/>
          <p:cNvSpPr/>
          <p:nvPr/>
        </p:nvSpPr>
        <p:spPr>
          <a:xfrm>
            <a:off x="762000" y="2311400"/>
            <a:ext cx="1244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available modality contributes evidence; missing modalities are excluded, never guessed.</a:t>
            </a:r>
            <a:endParaRPr lang="en-US" sz="1800" dirty="0"/>
          </a:p>
        </p:txBody>
      </p:sp>
      <p:sp>
        <p:nvSpPr>
          <p:cNvPr id="7" name="algorithm-code-panel"/>
          <p:cNvSpPr/>
          <p:nvPr/>
        </p:nvSpPr>
        <p:spPr>
          <a:xfrm>
            <a:off x="762000" y="3098800"/>
            <a:ext cx="8382000" cy="4368800"/>
          </a:xfrm>
          <a:prstGeom prst="rect">
            <a:avLst/>
          </a:prstGeom>
          <a:solidFill>
            <a:srgbClr val="060B14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algorithm-code-label"/>
          <p:cNvSpPr/>
          <p:nvPr/>
        </p:nvSpPr>
        <p:spPr>
          <a:xfrm>
            <a:off x="1092200" y="33782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 ANALYZE_SECURITY_EVENT(event)</a:t>
            </a:r>
            <a:endParaRPr lang="en-US" sz="1200" dirty="0"/>
          </a:p>
        </p:txBody>
      </p:sp>
      <p:sp>
        <p:nvSpPr>
          <p:cNvPr id="9" name="algorithm-code"/>
          <p:cNvSpPr/>
          <p:nvPr/>
        </p:nvSpPr>
        <p:spPr>
          <a:xfrm>
            <a:off x="1092200" y="3810000"/>
            <a:ext cx="7620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features ← extract(text, URL, media, identity, network)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scores ← detectPhishing + detectAudio + detectVideo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scores ← scores + verifyDigitalTwin + checkThreatSignals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graph ← updateAndQueryAttackGraph(features)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risk ← fuse(scores, graph, businessImpact, confidence)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reasons ← generateExplanation(scores, graph)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action ← selectSafeResponse(risk)</a:t>
            </a:r>
            <a:endParaRPr lang="en-US" sz="1500" dirty="0"/>
          </a:p>
          <a:p>
            <a:pPr marL="0" indent="0" algn="l">
              <a:lnSpc>
                <a:spcPts val="2010"/>
              </a:lnSpc>
              <a:buNone/>
            </a:pPr>
            <a:r>
              <a:rPr lang="en-US" altLang="en-US" sz="15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r>
              <a:rPr lang="en-US" altLang="en-US" sz="15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return risk, confidence, reasons, graph, action</a:t>
            </a:r>
            <a:endParaRPr lang="en-US" sz="1500" dirty="0"/>
          </a:p>
        </p:txBody>
      </p:sp>
      <p:sp>
        <p:nvSpPr>
          <p:cNvPr id="10" name="algorithm-code-note"/>
          <p:cNvSpPr/>
          <p:nvPr/>
        </p:nvSpPr>
        <p:spPr>
          <a:xfrm>
            <a:off x="1092200" y="7061200"/>
            <a:ext cx="7493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Output is an explainable decision package—not simply “fake” or “genuine”.</a:t>
            </a:r>
            <a:endParaRPr lang="en-US" sz="1100" dirty="0"/>
          </a:p>
        </p:txBody>
      </p:sp>
      <p:sp>
        <p:nvSpPr>
          <p:cNvPr id="11" name="algorithm-policy"/>
          <p:cNvSpPr/>
          <p:nvPr/>
        </p:nvSpPr>
        <p:spPr>
          <a:xfrm>
            <a:off x="9779000" y="3098800"/>
            <a:ext cx="5715000" cy="43688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12" name="algorithm-policy-head"/>
          <p:cNvSpPr/>
          <p:nvPr/>
        </p:nvSpPr>
        <p:spPr>
          <a:xfrm>
            <a:off x="10134600" y="3390900"/>
            <a:ext cx="495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policy → response</a:t>
            </a:r>
            <a:endParaRPr lang="en-US" sz="2200" dirty="0"/>
          </a:p>
        </p:txBody>
      </p:sp>
      <p:sp>
        <p:nvSpPr>
          <p:cNvPr id="13" name="algorithm-low"/>
          <p:cNvSpPr/>
          <p:nvPr/>
        </p:nvSpPr>
        <p:spPr>
          <a:xfrm>
            <a:off x="10134600" y="3937000"/>
            <a:ext cx="5003800" cy="533400"/>
          </a:xfrm>
          <a:prstGeom prst="rect">
            <a:avLst/>
          </a:prstGeom>
          <a:solidFill>
            <a:srgbClr val="0A0F1A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14" name="algorithm-low-label"/>
          <p:cNvSpPr/>
          <p:nvPr/>
        </p:nvSpPr>
        <p:spPr>
          <a:xfrm>
            <a:off x="10363200" y="4076700"/>
            <a:ext cx="104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LOW</a:t>
            </a:r>
            <a:endParaRPr lang="en-US" sz="1200" dirty="0"/>
          </a:p>
        </p:txBody>
      </p:sp>
      <p:sp>
        <p:nvSpPr>
          <p:cNvPr id="15" name="algorithm-low-body"/>
          <p:cNvSpPr/>
          <p:nvPr/>
        </p:nvSpPr>
        <p:spPr>
          <a:xfrm>
            <a:off x="11620500" y="40513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Allow, monitor, and log</a:t>
            </a:r>
            <a:endParaRPr lang="en-US" sz="1600" dirty="0"/>
          </a:p>
        </p:txBody>
      </p:sp>
      <p:sp>
        <p:nvSpPr>
          <p:cNvPr id="16" name="algorithm-medium"/>
          <p:cNvSpPr/>
          <p:nvPr/>
        </p:nvSpPr>
        <p:spPr>
          <a:xfrm>
            <a:off x="10134600" y="4622800"/>
            <a:ext cx="5003800" cy="533400"/>
          </a:xfrm>
          <a:prstGeom prst="rect">
            <a:avLst/>
          </a:prstGeom>
          <a:solidFill>
            <a:srgbClr val="0A0F1A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17" name="algorithm-medium-label"/>
          <p:cNvSpPr/>
          <p:nvPr/>
        </p:nvSpPr>
        <p:spPr>
          <a:xfrm>
            <a:off x="10363200" y="4762500"/>
            <a:ext cx="104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MEDIUM</a:t>
            </a:r>
            <a:endParaRPr lang="en-US" sz="1200" dirty="0"/>
          </a:p>
        </p:txBody>
      </p:sp>
      <p:sp>
        <p:nvSpPr>
          <p:cNvPr id="18" name="algorithm-medium-body"/>
          <p:cNvSpPr/>
          <p:nvPr/>
        </p:nvSpPr>
        <p:spPr>
          <a:xfrm>
            <a:off x="11620500" y="47371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 and verify independently</a:t>
            </a:r>
            <a:endParaRPr lang="en-US" sz="1600" dirty="0"/>
          </a:p>
        </p:txBody>
      </p:sp>
      <p:sp>
        <p:nvSpPr>
          <p:cNvPr id="19" name="algorithm-high"/>
          <p:cNvSpPr/>
          <p:nvPr/>
        </p:nvSpPr>
        <p:spPr>
          <a:xfrm>
            <a:off x="10134600" y="5308600"/>
            <a:ext cx="5003800" cy="533400"/>
          </a:xfrm>
          <a:prstGeom prst="rect">
            <a:avLst/>
          </a:prstGeom>
          <a:solidFill>
            <a:srgbClr val="0A0F1A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20" name="algorithm-high-label"/>
          <p:cNvSpPr/>
          <p:nvPr/>
        </p:nvSpPr>
        <p:spPr>
          <a:xfrm>
            <a:off x="10363200" y="5448300"/>
            <a:ext cx="104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HIGH</a:t>
            </a:r>
            <a:endParaRPr lang="en-US" sz="1200" dirty="0"/>
          </a:p>
        </p:txBody>
      </p:sp>
      <p:sp>
        <p:nvSpPr>
          <p:cNvPr id="21" name="algorithm-high-body"/>
          <p:cNvSpPr/>
          <p:nvPr/>
        </p:nvSpPr>
        <p:spPr>
          <a:xfrm>
            <a:off x="11620500" y="54229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content and block URL</a:t>
            </a:r>
            <a:endParaRPr lang="en-US" sz="1600" dirty="0"/>
          </a:p>
        </p:txBody>
      </p:sp>
      <p:sp>
        <p:nvSpPr>
          <p:cNvPr id="22" name="algorithm-critical"/>
          <p:cNvSpPr/>
          <p:nvPr/>
        </p:nvSpPr>
        <p:spPr>
          <a:xfrm>
            <a:off x="10134600" y="5994400"/>
            <a:ext cx="5003800" cy="533400"/>
          </a:xfrm>
          <a:prstGeom prst="rect">
            <a:avLst/>
          </a:prstGeom>
          <a:solidFill>
            <a:srgbClr val="0A0F1A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algorithm-critical-label"/>
          <p:cNvSpPr/>
          <p:nvPr/>
        </p:nvSpPr>
        <p:spPr>
          <a:xfrm>
            <a:off x="10363200" y="6134100"/>
            <a:ext cx="10414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CRITICAL</a:t>
            </a:r>
            <a:endParaRPr lang="en-US" sz="1200" dirty="0"/>
          </a:p>
        </p:txBody>
      </p:sp>
      <p:sp>
        <p:nvSpPr>
          <p:cNvPr id="24" name="algorithm-critical-body"/>
          <p:cNvSpPr/>
          <p:nvPr/>
        </p:nvSpPr>
        <p:spPr>
          <a:xfrm>
            <a:off x="11620500" y="6108700"/>
            <a:ext cx="317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incident; analyst approves action</a:t>
            </a:r>
            <a:endParaRPr lang="en-US" sz="1600" dirty="0"/>
          </a:p>
        </p:txBody>
      </p:sp>
      <p:sp>
        <p:nvSpPr>
          <p:cNvPr id="25" name="algorithm-policy-line"/>
          <p:cNvSpPr/>
          <p:nvPr/>
        </p:nvSpPr>
        <p:spPr>
          <a:xfrm>
            <a:off x="10134600" y="6781800"/>
            <a:ext cx="5003800" cy="9144"/>
          </a:xfrm>
          <a:prstGeom prst="line">
            <a:avLst/>
          </a:prstGeom>
          <a:ln w="12700">
            <a:solidFill>
              <a:srgbClr val="23304C"/>
            </a:solidFill>
            <a:prstDash val="solid"/>
          </a:ln>
        </p:spPr>
      </p:sp>
      <p:sp>
        <p:nvSpPr>
          <p:cNvPr id="26" name="algorithm-policy-note"/>
          <p:cNvSpPr/>
          <p:nvPr/>
        </p:nvSpPr>
        <p:spPr>
          <a:xfrm>
            <a:off x="10134600" y="7010400"/>
            <a:ext cx="488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Confidence + business impact influence escalation.</a:t>
            </a:r>
            <a:endParaRPr lang="en-US" sz="1200" dirty="0"/>
          </a:p>
        </p:txBody>
      </p:sp>
      <p:sp>
        <p:nvSpPr>
          <p:cNvPr id="27" name="algorithm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SEC-08 // ALGORITHM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demo-section"/>
          <p:cNvSpPr/>
          <p:nvPr/>
        </p:nvSpPr>
        <p:spPr>
          <a:xfrm>
            <a:off x="762000" y="9144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// LIVE INCIDENT DEMO</a:t>
            </a:r>
            <a:endParaRPr lang="en-US" sz="1300" dirty="0"/>
          </a:p>
        </p:txBody>
      </p:sp>
      <p:sp>
        <p:nvSpPr>
          <p:cNvPr id="4" name="demo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demo-title"/>
          <p:cNvSpPr/>
          <p:nvPr/>
        </p:nvSpPr>
        <p:spPr>
          <a:xfrm>
            <a:off x="762000" y="1498600"/>
            <a:ext cx="13208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fake CFO request becomes one clear incident</a:t>
            </a:r>
            <a:endParaRPr lang="en-US" sz="4300" dirty="0"/>
          </a:p>
        </p:txBody>
      </p:sp>
      <p:sp>
        <p:nvSpPr>
          <p:cNvPr id="6" name="demo-subtitle"/>
          <p:cNvSpPr/>
          <p:nvPr/>
        </p:nvSpPr>
        <p:spPr>
          <a:xfrm>
            <a:off x="762000" y="2311400"/>
            <a:ext cx="1193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cross-modal value appears when each clue points to the same impersonation attempt.</a:t>
            </a:r>
            <a:endParaRPr lang="en-US" sz="1800" dirty="0"/>
          </a:p>
        </p:txBody>
      </p:sp>
      <p:sp>
        <p:nvSpPr>
          <p:cNvPr id="7" name="demo-card-one"/>
          <p:cNvSpPr/>
          <p:nvPr/>
        </p:nvSpPr>
        <p:spPr>
          <a:xfrm>
            <a:off x="762000" y="3048000"/>
            <a:ext cx="4318000" cy="33020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007F"/>
            </a:solidFill>
            <a:prstDash val="solid"/>
          </a:ln>
        </p:spPr>
        <p:txBody>
          <a:bodyPr/>
          <a:p/>
        </p:txBody>
      </p:sp>
      <p:sp>
        <p:nvSpPr>
          <p:cNvPr id="8" name="demo-card-one-tag"/>
          <p:cNvSpPr/>
          <p:nvPr/>
        </p:nvSpPr>
        <p:spPr>
          <a:xfrm>
            <a:off x="1066800" y="3378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007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// ATTACKER SIGNALS</a:t>
            </a:r>
            <a:endParaRPr lang="en-US" sz="1200" dirty="0"/>
          </a:p>
        </p:txBody>
      </p:sp>
      <p:pic>
        <p:nvPicPr>
          <p:cNvPr id="9" name="demo-card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873500"/>
            <a:ext cx="457200" cy="457200"/>
          </a:xfrm>
          <a:prstGeom prst="rect">
            <a:avLst/>
          </a:prstGeom>
        </p:spPr>
      </p:pic>
      <p:sp>
        <p:nvSpPr>
          <p:cNvPr id="10" name="demo-card-one-title"/>
          <p:cNvSpPr/>
          <p:nvPr/>
        </p:nvSpPr>
        <p:spPr>
          <a:xfrm>
            <a:off x="1066800" y="45339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Urgent CFO request</a:t>
            </a:r>
            <a:endParaRPr lang="en-US" sz="2300" dirty="0"/>
          </a:p>
        </p:txBody>
      </p:sp>
      <p:sp>
        <p:nvSpPr>
          <p:cNvPr id="11" name="demo-card-one-body"/>
          <p:cNvSpPr/>
          <p:nvPr/>
        </p:nvSpPr>
        <p:spPr>
          <a:xfrm>
            <a:off x="1066800" y="5041900"/>
            <a:ext cx="323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CFO-looking email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Look-alike payment link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Cloned-sounding voice note</a:t>
            </a:r>
            <a:endParaRPr lang="en-US" sz="1700" dirty="0"/>
          </a:p>
        </p:txBody>
      </p:sp>
      <p:sp>
        <p:nvSpPr>
          <p:cNvPr id="12" name="demo-arrow-one"/>
          <p:cNvSpPr/>
          <p:nvPr/>
        </p:nvSpPr>
        <p:spPr>
          <a:xfrm>
            <a:off x="5207000" y="4699000"/>
            <a:ext cx="736600" cy="9144"/>
          </a:xfrm>
          <a:prstGeom prst="line">
            <a:avLst/>
          </a:prstGeom>
          <a:ln w="12700">
            <a:solidFill>
              <a:srgbClr val="00E5FF"/>
            </a:solidFill>
            <a:prstDash val="solid"/>
          </a:ln>
        </p:spPr>
        <p:txBody>
          <a:bodyPr/>
          <a:p/>
        </p:txBody>
      </p:sp>
      <p:sp>
        <p:nvSpPr>
          <p:cNvPr id="13" name="demo-card-two"/>
          <p:cNvSpPr/>
          <p:nvPr/>
        </p:nvSpPr>
        <p:spPr>
          <a:xfrm>
            <a:off x="6070600" y="3048000"/>
            <a:ext cx="4318000" cy="330200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FF"/>
            </a:solidFill>
            <a:prstDash val="solid"/>
          </a:ln>
        </p:spPr>
        <p:txBody>
          <a:bodyPr/>
          <a:p/>
        </p:txBody>
      </p:sp>
      <p:sp>
        <p:nvSpPr>
          <p:cNvPr id="14" name="demo-card-two-tag"/>
          <p:cNvSpPr/>
          <p:nvPr/>
        </p:nvSpPr>
        <p:spPr>
          <a:xfrm>
            <a:off x="6375400" y="3378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02 // AEGISNEXUS CHECKS</a:t>
            </a:r>
            <a:endParaRPr lang="en-US" sz="1200" dirty="0"/>
          </a:p>
        </p:txBody>
      </p:sp>
      <p:pic>
        <p:nvPicPr>
          <p:cNvPr id="15" name="demo-card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3873500"/>
            <a:ext cx="457200" cy="457200"/>
          </a:xfrm>
          <a:prstGeom prst="rect">
            <a:avLst/>
          </a:prstGeom>
        </p:spPr>
      </p:pic>
      <p:sp>
        <p:nvSpPr>
          <p:cNvPr id="16" name="demo-card-two-title"/>
          <p:cNvSpPr/>
          <p:nvPr/>
        </p:nvSpPr>
        <p:spPr>
          <a:xfrm>
            <a:off x="6375400" y="45339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 mismatch</a:t>
            </a:r>
            <a:endParaRPr lang="en-US" sz="2300" dirty="0"/>
          </a:p>
        </p:txBody>
      </p:sp>
      <p:sp>
        <p:nvSpPr>
          <p:cNvPr id="17" name="demo-card-two-body"/>
          <p:cNvSpPr/>
          <p:nvPr/>
        </p:nvSpPr>
        <p:spPr>
          <a:xfrm>
            <a:off x="6375400" y="5041900"/>
            <a:ext cx="3238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Unapproved channel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Unusual payment behavior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Related graph indicators</a:t>
            </a:r>
            <a:endParaRPr lang="en-US" sz="1700" dirty="0"/>
          </a:p>
        </p:txBody>
      </p:sp>
      <p:sp>
        <p:nvSpPr>
          <p:cNvPr id="18" name="demo-arrow-two"/>
          <p:cNvSpPr/>
          <p:nvPr/>
        </p:nvSpPr>
        <p:spPr>
          <a:xfrm>
            <a:off x="10515600" y="4699000"/>
            <a:ext cx="736600" cy="9144"/>
          </a:xfrm>
          <a:prstGeom prst="line">
            <a:avLst/>
          </a:prstGeom>
          <a:ln w="12700">
            <a:solidFill>
              <a:srgbClr val="FFB300"/>
            </a:solidFill>
            <a:prstDash val="solid"/>
          </a:ln>
        </p:spPr>
        <p:txBody>
          <a:bodyPr/>
          <a:p/>
        </p:txBody>
      </p:sp>
      <p:sp>
        <p:nvSpPr>
          <p:cNvPr id="19" name="demo-card-three"/>
          <p:cNvSpPr/>
          <p:nvPr/>
        </p:nvSpPr>
        <p:spPr>
          <a:xfrm>
            <a:off x="11379200" y="3048000"/>
            <a:ext cx="4114800" cy="33020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B300"/>
            </a:solidFill>
            <a:prstDash val="solid"/>
          </a:ln>
        </p:spPr>
        <p:txBody>
          <a:bodyPr/>
          <a:p/>
        </p:txBody>
      </p:sp>
      <p:sp>
        <p:nvSpPr>
          <p:cNvPr id="20" name="demo-card-three-tag"/>
          <p:cNvSpPr/>
          <p:nvPr/>
        </p:nvSpPr>
        <p:spPr>
          <a:xfrm>
            <a:off x="11684000" y="3378200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// RISK DECISION</a:t>
            </a:r>
            <a:endParaRPr lang="en-US" sz="1200" dirty="0"/>
          </a:p>
        </p:txBody>
      </p:sp>
      <p:pic>
        <p:nvPicPr>
          <p:cNvPr id="21" name="demo-card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84000" y="3873500"/>
            <a:ext cx="457200" cy="457200"/>
          </a:xfrm>
          <a:prstGeom prst="rect">
            <a:avLst/>
          </a:prstGeom>
        </p:spPr>
      </p:pic>
      <p:sp>
        <p:nvSpPr>
          <p:cNvPr id="22" name="demo-card-three-title"/>
          <p:cNvSpPr/>
          <p:nvPr/>
        </p:nvSpPr>
        <p:spPr>
          <a:xfrm>
            <a:off x="11684000" y="45339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High-risk incident</a:t>
            </a:r>
            <a:endParaRPr lang="en-US" sz="2300" dirty="0"/>
          </a:p>
        </p:txBody>
      </p:sp>
      <p:sp>
        <p:nvSpPr>
          <p:cNvPr id="23" name="demo-card-three-body"/>
          <p:cNvSpPr/>
          <p:nvPr/>
        </p:nvSpPr>
        <p:spPr>
          <a:xfrm>
            <a:off x="11684000" y="5041900"/>
            <a:ext cx="317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Quarantine message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URL</a:t>
            </a:r>
            <a:endParaRPr lang="en-US" sz="1700" dirty="0"/>
          </a:p>
          <a:p>
            <a:pPr marL="0" indent="0" algn="l">
              <a:lnSpc>
                <a:spcPts val="2006"/>
              </a:lnSpc>
              <a:buNone/>
            </a:pPr>
            <a:r>
              <a:rPr lang="en-US" altLang="en-US" sz="17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Notify analyst for approval</a:t>
            </a:r>
            <a:endParaRPr lang="en-US" sz="1700" dirty="0"/>
          </a:p>
        </p:txBody>
      </p:sp>
      <p:sp>
        <p:nvSpPr>
          <p:cNvPr id="24" name="demo-incident-strip"/>
          <p:cNvSpPr/>
          <p:nvPr/>
        </p:nvSpPr>
        <p:spPr>
          <a:xfrm>
            <a:off x="2032000" y="6858000"/>
            <a:ext cx="12192000" cy="965200"/>
          </a:xfrm>
          <a:prstGeom prst="rect">
            <a:avLst/>
          </a:prstGeom>
          <a:solidFill>
            <a:srgbClr val="141C2F">
              <a:alpha val="90000"/>
            </a:srgbClr>
          </a:solidFill>
          <a:ln w="12700">
            <a:solidFill>
              <a:srgbClr val="FFB300"/>
            </a:solidFill>
            <a:prstDash val="solid"/>
          </a:ln>
        </p:spPr>
        <p:txBody>
          <a:bodyPr/>
          <a:p/>
        </p:txBody>
      </p:sp>
      <p:sp>
        <p:nvSpPr>
          <p:cNvPr id="25" name="demo-incident-label"/>
          <p:cNvSpPr/>
          <p:nvPr/>
        </p:nvSpPr>
        <p:spPr>
          <a:xfrm>
            <a:off x="2413000" y="7035800"/>
            <a:ext cx="91440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EXPECTED DASHBOARD OUTPUT</a:t>
            </a:r>
            <a:endParaRPr lang="en-US" sz="1200" dirty="0"/>
          </a:p>
        </p:txBody>
      </p:sp>
      <p:sp>
        <p:nvSpPr>
          <p:cNvPr id="26" name="demo-incident-title"/>
          <p:cNvSpPr/>
          <p:nvPr/>
        </p:nvSpPr>
        <p:spPr>
          <a:xfrm>
            <a:off x="2413000" y="7366000"/>
            <a:ext cx="812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t>CRITICAL RISK (95/100) — CFO Impersonation</a:t>
            </a:r>
            <a:endParaRPr lang="en-US" sz="2100" dirty="0"/>
          </a:p>
        </p:txBody>
      </p:sp>
      <p:sp>
        <p:nvSpPr>
          <p:cNvPr id="27" name="demo-incident-evidence"/>
          <p:cNvSpPr/>
          <p:nvPr/>
        </p:nvSpPr>
        <p:spPr>
          <a:xfrm>
            <a:off x="10922000" y="7366000"/>
            <a:ext cx="2857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t>5 Correlated Signals • ,500 Target • 94% Confidence</a:t>
            </a:r>
            <a:endParaRPr lang="en-US" sz="1200" dirty="0"/>
          </a:p>
        </p:txBody>
      </p:sp>
      <p:sp>
        <p:nvSpPr>
          <p:cNvPr id="28" name="demo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SEC-09 // DEMO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fety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safety-section"/>
          <p:cNvSpPr/>
          <p:nvPr/>
        </p:nvSpPr>
        <p:spPr>
          <a:xfrm>
            <a:off x="762000" y="914400"/>
            <a:ext cx="787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MANDATORY 06 // ASSUMPTIONS + CHALLENGES + QUERIES</a:t>
            </a:r>
            <a:endParaRPr lang="en-US" sz="1300" dirty="0"/>
          </a:p>
        </p:txBody>
      </p:sp>
      <p:sp>
        <p:nvSpPr>
          <p:cNvPr id="4" name="safety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safety-title"/>
          <p:cNvSpPr/>
          <p:nvPr/>
        </p:nvSpPr>
        <p:spPr>
          <a:xfrm>
            <a:off x="762000" y="1498600"/>
            <a:ext cx="12700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Ambitious by design. Responsible by default.</a:t>
            </a:r>
            <a:endParaRPr lang="en-US" sz="4300" dirty="0"/>
          </a:p>
        </p:txBody>
      </p:sp>
      <p:sp>
        <p:nvSpPr>
          <p:cNvPr id="6" name="safety-subtitle"/>
          <p:cNvSpPr/>
          <p:nvPr/>
        </p:nvSpPr>
        <p:spPr>
          <a:xfrm>
            <a:off x="762000" y="2311400"/>
            <a:ext cx="1270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credible prototype declares its boundaries, risks, safeguards, and open questions clearly.</a:t>
            </a:r>
            <a:endParaRPr lang="en-US" sz="1800" dirty="0"/>
          </a:p>
        </p:txBody>
      </p:sp>
      <p:sp>
        <p:nvSpPr>
          <p:cNvPr id="7" name="safety-assumptions-panel"/>
          <p:cNvSpPr/>
          <p:nvPr/>
        </p:nvSpPr>
        <p:spPr>
          <a:xfrm>
            <a:off x="762000" y="3098800"/>
            <a:ext cx="5905500" cy="388620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afety-assumptions-label"/>
          <p:cNvSpPr/>
          <p:nvPr/>
        </p:nvSpPr>
        <p:spPr>
          <a:xfrm>
            <a:off x="1092200" y="3429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PROTOTYPE ASSUMPTIONS</a:t>
            </a:r>
            <a:endParaRPr lang="en-US" sz="1300" dirty="0"/>
          </a:p>
        </p:txBody>
      </p:sp>
      <p:pic>
        <p:nvPicPr>
          <p:cNvPr id="9" name="safety-assumption-one-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00" y="4038600"/>
            <a:ext cx="355600" cy="355600"/>
          </a:xfrm>
          <a:prstGeom prst="rect">
            <a:avLst/>
          </a:prstGeom>
        </p:spPr>
      </p:pic>
      <p:sp>
        <p:nvSpPr>
          <p:cNvPr id="10" name="safety-assumption-one"/>
          <p:cNvSpPr/>
          <p:nvPr/>
        </p:nvSpPr>
        <p:spPr>
          <a:xfrm>
            <a:off x="1727200" y="39751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Simulated or uploaded test events are used instead of live corporate data.</a:t>
            </a:r>
            <a:endParaRPr lang="en-US" sz="1700" dirty="0"/>
          </a:p>
        </p:txBody>
      </p:sp>
      <p:pic>
        <p:nvPicPr>
          <p:cNvPr id="11" name="safety-assumption-two-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953000"/>
            <a:ext cx="355600" cy="355600"/>
          </a:xfrm>
          <a:prstGeom prst="rect">
            <a:avLst/>
          </a:prstGeom>
        </p:spPr>
      </p:pic>
      <p:sp>
        <p:nvSpPr>
          <p:cNvPr id="12" name="safety-assumption-two"/>
          <p:cNvSpPr/>
          <p:nvPr/>
        </p:nvSpPr>
        <p:spPr>
          <a:xfrm>
            <a:off x="1727200" y="48895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Pre-trained models and rules are used; no large model is trained from scratch.</a:t>
            </a:r>
            <a:endParaRPr lang="en-US" sz="1700" dirty="0"/>
          </a:p>
        </p:txBody>
      </p:sp>
      <p:pic>
        <p:nvPicPr>
          <p:cNvPr id="13" name="safety-assumption-three-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200" y="5867400"/>
            <a:ext cx="355600" cy="355600"/>
          </a:xfrm>
          <a:prstGeom prst="rect">
            <a:avLst/>
          </a:prstGeom>
        </p:spPr>
      </p:pic>
      <p:sp>
        <p:nvSpPr>
          <p:cNvPr id="14" name="safety-assumption-three"/>
          <p:cNvSpPr/>
          <p:nvPr/>
        </p:nvSpPr>
        <p:spPr>
          <a:xfrm>
            <a:off x="1727200" y="5803900"/>
            <a:ext cx="4318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every event includes text, audio, video, identity, and network signals.</a:t>
            </a:r>
            <a:endParaRPr lang="en-US" sz="1700" dirty="0"/>
          </a:p>
        </p:txBody>
      </p:sp>
      <p:sp>
        <p:nvSpPr>
          <p:cNvPr id="15" name="safety-challenges-panel"/>
          <p:cNvSpPr/>
          <p:nvPr/>
        </p:nvSpPr>
        <p:spPr>
          <a:xfrm>
            <a:off x="7048500" y="3098800"/>
            <a:ext cx="8445500" cy="38862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sp>
        <p:nvSpPr>
          <p:cNvPr id="16" name="safety-challenges-label"/>
          <p:cNvSpPr/>
          <p:nvPr/>
        </p:nvSpPr>
        <p:spPr>
          <a:xfrm>
            <a:off x="7404100" y="3429000"/>
            <a:ext cx="546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CHALLENGE → MITIGATION</a:t>
            </a:r>
            <a:endParaRPr lang="en-US" sz="1300" dirty="0"/>
          </a:p>
        </p:txBody>
      </p:sp>
      <p:sp>
        <p:nvSpPr>
          <p:cNvPr id="17" name="safety-challenge-one-title"/>
          <p:cNvSpPr/>
          <p:nvPr/>
        </p:nvSpPr>
        <p:spPr>
          <a:xfrm>
            <a:off x="7404100" y="4051300"/>
            <a:ext cx="2413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False alerts</a:t>
            </a:r>
            <a:endParaRPr lang="en-US" sz="1900" dirty="0"/>
          </a:p>
        </p:txBody>
      </p:sp>
      <p:sp>
        <p:nvSpPr>
          <p:cNvPr id="18" name="safety-challenge-one-body"/>
          <p:cNvSpPr/>
          <p:nvPr/>
        </p:nvSpPr>
        <p:spPr>
          <a:xfrm>
            <a:off x="10096500" y="4051300"/>
            <a:ext cx="4953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bands, confidence, evidence, thresholds, analyst review.</a:t>
            </a:r>
            <a:endParaRPr lang="en-US" sz="1600" dirty="0"/>
          </a:p>
        </p:txBody>
      </p:sp>
      <p:sp>
        <p:nvSpPr>
          <p:cNvPr id="19" name="safety-challenge-line-one"/>
          <p:cNvSpPr/>
          <p:nvPr/>
        </p:nvSpPr>
        <p:spPr>
          <a:xfrm>
            <a:off x="7404100" y="4508500"/>
            <a:ext cx="7645400" cy="9144"/>
          </a:xfrm>
          <a:prstGeom prst="line">
            <a:avLst/>
          </a:prstGeom>
          <a:ln w="12700">
            <a:solidFill>
              <a:srgbClr val="23304C"/>
            </a:solidFill>
            <a:prstDash val="solid"/>
          </a:ln>
        </p:spPr>
      </p:sp>
      <p:sp>
        <p:nvSpPr>
          <p:cNvPr id="20" name="safety-challenge-two-title"/>
          <p:cNvSpPr/>
          <p:nvPr/>
        </p:nvSpPr>
        <p:spPr>
          <a:xfrm>
            <a:off x="7404100" y="4864100"/>
            <a:ext cx="2413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Privacy + biometrics</a:t>
            </a:r>
            <a:endParaRPr lang="en-US" sz="1900" dirty="0"/>
          </a:p>
        </p:txBody>
      </p:sp>
      <p:sp>
        <p:nvSpPr>
          <p:cNvPr id="21" name="safety-challenge-two-body"/>
          <p:cNvSpPr/>
          <p:nvPr/>
        </p:nvSpPr>
        <p:spPr>
          <a:xfrm>
            <a:off x="10096500" y="4864100"/>
            <a:ext cx="4953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Consent-based samples, minimal storage, restricted access.</a:t>
            </a:r>
            <a:endParaRPr lang="en-US" sz="1600" dirty="0"/>
          </a:p>
        </p:txBody>
      </p:sp>
      <p:sp>
        <p:nvSpPr>
          <p:cNvPr id="22" name="safety-challenge-line-two"/>
          <p:cNvSpPr/>
          <p:nvPr/>
        </p:nvSpPr>
        <p:spPr>
          <a:xfrm>
            <a:off x="7404100" y="5321300"/>
            <a:ext cx="7645400" cy="9144"/>
          </a:xfrm>
          <a:prstGeom prst="line">
            <a:avLst/>
          </a:prstGeom>
          <a:ln w="12700">
            <a:solidFill>
              <a:srgbClr val="23304C"/>
            </a:solidFill>
            <a:prstDash val="solid"/>
          </a:ln>
        </p:spPr>
      </p:sp>
      <p:sp>
        <p:nvSpPr>
          <p:cNvPr id="23" name="safety-challenge-three-title"/>
          <p:cNvSpPr/>
          <p:nvPr/>
        </p:nvSpPr>
        <p:spPr>
          <a:xfrm>
            <a:off x="7404100" y="5676900"/>
            <a:ext cx="2413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9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 + scope</a:t>
            </a:r>
            <a:endParaRPr lang="en-US" sz="1900" dirty="0"/>
          </a:p>
        </p:txBody>
      </p:sp>
      <p:sp>
        <p:nvSpPr>
          <p:cNvPr id="24" name="safety-challenge-three-body"/>
          <p:cNvSpPr/>
          <p:nvPr/>
        </p:nvSpPr>
        <p:spPr>
          <a:xfrm>
            <a:off x="10096500" y="5676900"/>
            <a:ext cx="495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checks first; deeper checks run in parallel; critical actions need analyst approval.</a:t>
            </a:r>
            <a:endParaRPr lang="en-US" sz="1600" dirty="0"/>
          </a:p>
        </p:txBody>
      </p:sp>
      <p:sp>
        <p:nvSpPr>
          <p:cNvPr id="25" name="safety-queries-strip"/>
          <p:cNvSpPr/>
          <p:nvPr/>
        </p:nvSpPr>
        <p:spPr>
          <a:xfrm>
            <a:off x="2159000" y="7340600"/>
            <a:ext cx="11938000" cy="762000"/>
          </a:xfrm>
          <a:prstGeom prst="rect">
            <a:avLst/>
          </a:prstGeom>
          <a:solidFill>
            <a:srgbClr val="141C2F">
              <a:alpha val="80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6" name="safety-queries-label"/>
          <p:cNvSpPr/>
          <p:nvPr/>
        </p:nvSpPr>
        <p:spPr>
          <a:xfrm>
            <a:off x="2514600" y="7518400"/>
            <a:ext cx="215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FFB3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 QUERIES</a:t>
            </a:r>
            <a:endParaRPr lang="en-US" sz="1200" dirty="0"/>
          </a:p>
        </p:txBody>
      </p:sp>
      <p:sp>
        <p:nvSpPr>
          <p:cNvPr id="27" name="safety-queries-text"/>
          <p:cNvSpPr/>
          <p:nvPr/>
        </p:nvSpPr>
        <p:spPr>
          <a:xfrm>
            <a:off x="2514600" y="7823200"/>
            <a:ext cx="111125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5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 simulated data and pre-trained models acceptable? Which evaluation criterion matters most: accuracy, workflow, UX, or response?</a:t>
            </a:r>
            <a:endParaRPr lang="en-US" sz="1500" dirty="0"/>
          </a:p>
        </p:txBody>
      </p:sp>
      <p:sp>
        <p:nvSpPr>
          <p:cNvPr id="28" name="safety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SEC-10 // SAFETY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utcomes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0000"/>
              </a:srgbClr>
            </a:solidFill>
            <a:prstDash val="solid"/>
          </a:ln>
        </p:spPr>
      </p:sp>
      <p:sp>
        <p:nvSpPr>
          <p:cNvPr id="3" name="outcomes-section"/>
          <p:cNvSpPr/>
          <p:nvPr/>
        </p:nvSpPr>
        <p:spPr>
          <a:xfrm>
            <a:off x="762000" y="9144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// EXPECTED OUTCOME</a:t>
            </a:r>
            <a:endParaRPr lang="en-US" sz="1300" dirty="0"/>
          </a:p>
        </p:txBody>
      </p:sp>
      <p:sp>
        <p:nvSpPr>
          <p:cNvPr id="4" name="outcomes-watermark"/>
          <p:cNvSpPr/>
          <p:nvPr/>
        </p:nvSpPr>
        <p:spPr>
          <a:xfrm>
            <a:off x="13335000" y="914400"/>
            <a:ext cx="215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</a:t>
            </a:r>
            <a:endParaRPr lang="en-US" sz="1200" dirty="0"/>
          </a:p>
        </p:txBody>
      </p:sp>
      <p:sp>
        <p:nvSpPr>
          <p:cNvPr id="5" name="outcomes-title"/>
          <p:cNvSpPr/>
          <p:nvPr/>
        </p:nvSpPr>
        <p:spPr>
          <a:xfrm>
            <a:off x="762000" y="1498600"/>
            <a:ext cx="109220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4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outcome: earlier, clearer, safer decisions</a:t>
            </a:r>
            <a:endParaRPr lang="en-US" sz="4400" dirty="0"/>
          </a:p>
        </p:txBody>
      </p:sp>
      <p:sp>
        <p:nvSpPr>
          <p:cNvPr id="6" name="outcomes-subtitle"/>
          <p:cNvSpPr/>
          <p:nvPr/>
        </p:nvSpPr>
        <p:spPr>
          <a:xfrm>
            <a:off x="762000" y="2336800"/>
            <a:ext cx="1270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8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AegisNexus turns isolated indicators into action-ready intelligence for people and security teams.</a:t>
            </a:r>
            <a:endParaRPr lang="en-US" sz="1800" dirty="0"/>
          </a:p>
        </p:txBody>
      </p:sp>
      <p:sp>
        <p:nvSpPr>
          <p:cNvPr id="7" name="outcomes-card-one"/>
          <p:cNvSpPr/>
          <p:nvPr/>
        </p:nvSpPr>
        <p:spPr>
          <a:xfrm>
            <a:off x="762000" y="3175000"/>
            <a:ext cx="4318000" cy="1905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8" name="outcomes-icon-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492500"/>
            <a:ext cx="406400" cy="406400"/>
          </a:xfrm>
          <a:prstGeom prst="rect">
            <a:avLst/>
          </a:prstGeom>
        </p:spPr>
      </p:pic>
      <p:sp>
        <p:nvSpPr>
          <p:cNvPr id="9" name="outcomes-title-one"/>
          <p:cNvSpPr/>
          <p:nvPr/>
        </p:nvSpPr>
        <p:spPr>
          <a:xfrm>
            <a:off x="1066800" y="4152900"/>
            <a:ext cx="3048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Earlier detection</a:t>
            </a:r>
            <a:endParaRPr lang="en-US" sz="2200" dirty="0"/>
          </a:p>
        </p:txBody>
      </p:sp>
      <p:sp>
        <p:nvSpPr>
          <p:cNvPr id="10" name="outcomes-body-one"/>
          <p:cNvSpPr/>
          <p:nvPr/>
        </p:nvSpPr>
        <p:spPr>
          <a:xfrm>
            <a:off x="1066800" y="45593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Flag suspicious activity before a risky action completes.</a:t>
            </a:r>
            <a:endParaRPr lang="en-US" sz="1600" dirty="0"/>
          </a:p>
        </p:txBody>
      </p:sp>
      <p:sp>
        <p:nvSpPr>
          <p:cNvPr id="11" name="outcomes-card-two"/>
          <p:cNvSpPr/>
          <p:nvPr/>
        </p:nvSpPr>
        <p:spPr>
          <a:xfrm>
            <a:off x="5715000" y="3175000"/>
            <a:ext cx="4318000" cy="1905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2" name="outcomes-icon-two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00" y="3492500"/>
            <a:ext cx="406400" cy="406400"/>
          </a:xfrm>
          <a:prstGeom prst="rect">
            <a:avLst/>
          </a:prstGeom>
        </p:spPr>
      </p:pic>
      <p:sp>
        <p:nvSpPr>
          <p:cNvPr id="13" name="outcomes-title-two"/>
          <p:cNvSpPr/>
          <p:nvPr/>
        </p:nvSpPr>
        <p:spPr>
          <a:xfrm>
            <a:off x="6019800" y="41529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Cross-modal confidence</a:t>
            </a:r>
            <a:endParaRPr lang="en-US" sz="2200" dirty="0"/>
          </a:p>
        </p:txBody>
      </p:sp>
      <p:sp>
        <p:nvSpPr>
          <p:cNvPr id="14" name="outcomes-body-two"/>
          <p:cNvSpPr/>
          <p:nvPr/>
        </p:nvSpPr>
        <p:spPr>
          <a:xfrm>
            <a:off x="6019800" y="45593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evidence sources instead of trusting one clue.</a:t>
            </a:r>
            <a:endParaRPr lang="en-US" sz="1600" dirty="0"/>
          </a:p>
        </p:txBody>
      </p:sp>
      <p:sp>
        <p:nvSpPr>
          <p:cNvPr id="15" name="outcomes-card-three"/>
          <p:cNvSpPr/>
          <p:nvPr/>
        </p:nvSpPr>
        <p:spPr>
          <a:xfrm>
            <a:off x="10668000" y="3175000"/>
            <a:ext cx="4318000" cy="1905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16" name="outcomes-icon-thre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0" y="3492500"/>
            <a:ext cx="406400" cy="406400"/>
          </a:xfrm>
          <a:prstGeom prst="rect">
            <a:avLst/>
          </a:prstGeom>
        </p:spPr>
      </p:pic>
      <p:sp>
        <p:nvSpPr>
          <p:cNvPr id="17" name="outcomes-title-three"/>
          <p:cNvSpPr/>
          <p:nvPr/>
        </p:nvSpPr>
        <p:spPr>
          <a:xfrm>
            <a:off x="10972800" y="41529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Campaign visibility</a:t>
            </a:r>
            <a:endParaRPr lang="en-US" sz="2200" dirty="0"/>
          </a:p>
        </p:txBody>
      </p:sp>
      <p:sp>
        <p:nvSpPr>
          <p:cNvPr id="18" name="outcomes-body-three"/>
          <p:cNvSpPr/>
          <p:nvPr/>
        </p:nvSpPr>
        <p:spPr>
          <a:xfrm>
            <a:off x="10972800" y="4559300"/>
            <a:ext cx="317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related indicators into one incident view.</a:t>
            </a:r>
            <a:endParaRPr lang="en-US" sz="1600" dirty="0"/>
          </a:p>
        </p:txBody>
      </p:sp>
      <p:sp>
        <p:nvSpPr>
          <p:cNvPr id="19" name="outcomes-card-four"/>
          <p:cNvSpPr/>
          <p:nvPr/>
        </p:nvSpPr>
        <p:spPr>
          <a:xfrm>
            <a:off x="3238500" y="5765800"/>
            <a:ext cx="4699000" cy="1905000"/>
          </a:xfrm>
          <a:prstGeom prst="rect">
            <a:avLst/>
          </a:prstGeom>
          <a:solidFill>
            <a:srgbClr val="141C2F"/>
          </a:solidFill>
          <a:ln w="12700">
            <a:solidFill>
              <a:srgbClr val="23304C"/>
            </a:solidFill>
            <a:prstDash val="solid"/>
          </a:ln>
        </p:spPr>
      </p:sp>
      <p:pic>
        <p:nvPicPr>
          <p:cNvPr id="20" name="outcomes-icon-four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3300" y="6083300"/>
            <a:ext cx="406400" cy="406400"/>
          </a:xfrm>
          <a:prstGeom prst="rect">
            <a:avLst/>
          </a:prstGeom>
        </p:spPr>
      </p:pic>
      <p:sp>
        <p:nvSpPr>
          <p:cNvPr id="21" name="outcomes-title-four"/>
          <p:cNvSpPr/>
          <p:nvPr/>
        </p:nvSpPr>
        <p:spPr>
          <a:xfrm>
            <a:off x="3543300" y="67437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Explainable security</a:t>
            </a:r>
            <a:endParaRPr lang="en-US" sz="2200" dirty="0"/>
          </a:p>
        </p:txBody>
      </p:sp>
      <p:sp>
        <p:nvSpPr>
          <p:cNvPr id="22" name="outcomes-body-four"/>
          <p:cNvSpPr/>
          <p:nvPr/>
        </p:nvSpPr>
        <p:spPr>
          <a:xfrm>
            <a:off x="3543300" y="71501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score, evidence, graph, and recommended response.</a:t>
            </a:r>
            <a:endParaRPr lang="en-US" sz="1600" dirty="0"/>
          </a:p>
        </p:txBody>
      </p:sp>
      <p:sp>
        <p:nvSpPr>
          <p:cNvPr id="23" name="outcomes-card-five"/>
          <p:cNvSpPr/>
          <p:nvPr/>
        </p:nvSpPr>
        <p:spPr>
          <a:xfrm>
            <a:off x="8699500" y="5765800"/>
            <a:ext cx="4699000" cy="1905000"/>
          </a:xfrm>
          <a:prstGeom prst="rect">
            <a:avLst/>
          </a:prstGeom>
          <a:solidFill>
            <a:srgbClr val="141C2F"/>
          </a:solidFill>
          <a:ln w="12700">
            <a:solidFill>
              <a:srgbClr val="FFB300"/>
            </a:solidFill>
            <a:prstDash val="solid"/>
          </a:ln>
        </p:spPr>
      </p:sp>
      <p:pic>
        <p:nvPicPr>
          <p:cNvPr id="24" name="outcomes-icon-fiv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4300" y="6083300"/>
            <a:ext cx="406400" cy="406400"/>
          </a:xfrm>
          <a:prstGeom prst="rect">
            <a:avLst/>
          </a:prstGeom>
        </p:spPr>
      </p:pic>
      <p:sp>
        <p:nvSpPr>
          <p:cNvPr id="25" name="outcomes-title-five"/>
          <p:cNvSpPr/>
          <p:nvPr/>
        </p:nvSpPr>
        <p:spPr>
          <a:xfrm>
            <a:off x="9004300" y="6743700"/>
            <a:ext cx="368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2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Safer response</a:t>
            </a:r>
            <a:endParaRPr lang="en-US" sz="2200" dirty="0"/>
          </a:p>
        </p:txBody>
      </p:sp>
      <p:sp>
        <p:nvSpPr>
          <p:cNvPr id="26" name="outcomes-body-five"/>
          <p:cNvSpPr/>
          <p:nvPr/>
        </p:nvSpPr>
        <p:spPr>
          <a:xfrm>
            <a:off x="9004300" y="7150100"/>
            <a:ext cx="368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 risk while preserving human control.</a:t>
            </a:r>
            <a:endParaRPr lang="en-US" sz="1600" dirty="0"/>
          </a:p>
        </p:txBody>
      </p:sp>
      <p:sp>
        <p:nvSpPr>
          <p:cNvPr id="27" name="outcomes-coordinate"/>
          <p:cNvSpPr/>
          <p:nvPr/>
        </p:nvSpPr>
        <p:spPr>
          <a:xfrm>
            <a:off x="762000" y="8636000"/>
            <a:ext cx="317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2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SEC-11 // OUTCOMES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-image" descr="preencoded.png"/>
          <p:cNvPicPr>
            <a:picLocks noChangeAspect="1"/>
          </p:cNvPicPr>
          <p:nvPr/>
        </p:nvPicPr>
        <p:blipFill>
          <a:blip r:embed="rId3"/>
          <a:srcRect t="28" b="28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background-mask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6101D">
              <a:alpha val="8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closing-topline"/>
          <p:cNvSpPr/>
          <p:nvPr/>
        </p:nvSpPr>
        <p:spPr>
          <a:xfrm>
            <a:off x="762000" y="584200"/>
            <a:ext cx="14732000" cy="9144"/>
          </a:xfrm>
          <a:prstGeom prst="line">
            <a:avLst/>
          </a:prstGeom>
          <a:ln w="25400">
            <a:solidFill>
              <a:srgbClr val="00E5FF">
                <a:alpha val="85000"/>
              </a:srgbClr>
            </a:solidFill>
            <a:prstDash val="solid"/>
          </a:ln>
        </p:spPr>
      </p:sp>
      <p:sp>
        <p:nvSpPr>
          <p:cNvPr id="5" name="closing-kicker"/>
          <p:cNvSpPr/>
          <p:nvPr/>
        </p:nvSpPr>
        <p:spPr>
          <a:xfrm>
            <a:off x="990600" y="990600"/>
            <a:ext cx="457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3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NEXUS 2026 // FINAL PROTOCOL</a:t>
            </a:r>
            <a:endParaRPr lang="en-US" sz="1300" dirty="0"/>
          </a:p>
        </p:txBody>
      </p:sp>
      <p:sp>
        <p:nvSpPr>
          <p:cNvPr id="6" name="closing-title"/>
          <p:cNvSpPr/>
          <p:nvPr/>
        </p:nvSpPr>
        <p:spPr>
          <a:xfrm>
            <a:off x="1905000" y="3149600"/>
            <a:ext cx="12446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52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 the signal. Verify the identity.</a:t>
            </a:r>
            <a:endParaRPr lang="en-US" sz="5200" dirty="0"/>
          </a:p>
        </p:txBody>
      </p:sp>
      <p:sp>
        <p:nvSpPr>
          <p:cNvPr id="7" name="closing-title-two"/>
          <p:cNvSpPr/>
          <p:nvPr/>
        </p:nvSpPr>
        <p:spPr>
          <a:xfrm>
            <a:off x="1905000" y="4140200"/>
            <a:ext cx="12446000" cy="838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5200" dirty="0">
                <a:solidFill>
                  <a:srgbClr val="00E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Correlate the threat. Make the response safe.</a:t>
            </a:r>
            <a:endParaRPr lang="en-US" sz="5200" dirty="0"/>
          </a:p>
        </p:txBody>
      </p:sp>
      <p:sp>
        <p:nvSpPr>
          <p:cNvPr id="8" name="closing-route"/>
          <p:cNvSpPr/>
          <p:nvPr/>
        </p:nvSpPr>
        <p:spPr>
          <a:xfrm>
            <a:off x="6197600" y="5359400"/>
            <a:ext cx="3860800" cy="9144"/>
          </a:xfrm>
          <a:prstGeom prst="line">
            <a:avLst/>
          </a:prstGeom>
          <a:ln w="50800">
            <a:solidFill>
              <a:srgbClr val="FF007F"/>
            </a:solidFill>
            <a:prstDash val="solid"/>
          </a:ln>
        </p:spPr>
      </p:sp>
      <p:sp>
        <p:nvSpPr>
          <p:cNvPr id="9" name="closing-company"/>
          <p:cNvSpPr/>
          <p:nvPr/>
        </p:nvSpPr>
        <p:spPr>
          <a:xfrm>
            <a:off x="3810000" y="5969000"/>
            <a:ext cx="863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23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 Creature Solutions</a:t>
            </a:r>
            <a:endParaRPr lang="en-US" sz="2300" dirty="0"/>
          </a:p>
        </p:txBody>
      </p:sp>
      <p:sp>
        <p:nvSpPr>
          <p:cNvPr id="10" name="closing-presenters"/>
          <p:cNvSpPr/>
          <p:nvPr/>
        </p:nvSpPr>
        <p:spPr>
          <a:xfrm>
            <a:off x="3810000" y="6426200"/>
            <a:ext cx="863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8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Mohammad Sahil · Zainab Memon</a:t>
            </a:r>
            <a:endParaRPr lang="en-US" sz="1800" dirty="0"/>
          </a:p>
        </p:txBody>
      </p:sp>
      <p:sp>
        <p:nvSpPr>
          <p:cNvPr id="11" name="closing-topic"/>
          <p:cNvSpPr/>
          <p:nvPr/>
        </p:nvSpPr>
        <p:spPr>
          <a:xfrm>
            <a:off x="3175000" y="6959600"/>
            <a:ext cx="990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600" dirty="0">
                <a:solidFill>
                  <a:srgbClr val="8B9BB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AegisNexus — AI-Powered Deepfake and Phishing Defense</a:t>
            </a:r>
            <a:endParaRPr lang="en-US" sz="1600" dirty="0"/>
          </a:p>
        </p:txBody>
      </p:sp>
      <p:sp>
        <p:nvSpPr>
          <p:cNvPr id="12" name="closing-thankyou"/>
          <p:cNvSpPr/>
          <p:nvPr/>
        </p:nvSpPr>
        <p:spPr>
          <a:xfrm>
            <a:off x="5080000" y="7772400"/>
            <a:ext cx="609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buNone/>
            </a:pPr>
            <a:r>
              <a:rPr lang="en-US" altLang="en-US" sz="1400" dirty="0">
                <a:solidFill>
                  <a:srgbClr val="00E5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// QUESTIONS</a:t>
            </a:r>
            <a:endParaRPr lang="en-US" sz="1400" dirty="0"/>
          </a:p>
        </p:txBody>
      </p:sp>
      <p:sp>
        <p:nvSpPr>
          <p:cNvPr id="13" name="closing-coordinate"/>
          <p:cNvSpPr/>
          <p:nvPr/>
        </p:nvSpPr>
        <p:spPr>
          <a:xfrm>
            <a:off x="1041400" y="8559800"/>
            <a:ext cx="419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altLang="en-US" sz="1100" dirty="0">
                <a:solidFill>
                  <a:srgbClr val="8B9BB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 CLOSE // TECH CREATURE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1203</Words>
  <Application>Microsoft Office PowerPoint</Application>
  <PresentationFormat>Custom</PresentationFormat>
  <Paragraphs>207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JetBrains Mono</vt:lpstr>
      <vt:lpstr>Space Grotesk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SentinelFlow — AI-Powered Real-Time Deepfake and Phishing Detection &amp; Defense System</dc:title>
  <dc:subject>SentinelFlow — AI-Powered Real-Time Deepfake and Phishing Detection &amp; Defense System</dc:subject>
  <dc:creator>Manus</dc:creator>
  <cp:lastModifiedBy>MOHAMMAD SAHIL SHAIKH</cp:lastModifiedBy>
  <cp:revision>1</cp:revision>
  <dcterms:created xsi:type="dcterms:W3CDTF">2026-08-20T17:11:54Z</dcterms:created>
  <dcterms:modified xsi:type="dcterms:W3CDTF">2026-09-02T08:12:17Z</dcterms:modified>
</cp:coreProperties>
</file>